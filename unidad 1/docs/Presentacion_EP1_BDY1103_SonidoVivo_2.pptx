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14"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7739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profesor. Hoy presentamos la solución transaccional desarrollada en Oracle PL/SQL para la tienda "Sonido Vivo". Nuestro objetivo fue transformar un negocio con control manual y riesgo de quiebre de stock en un sistema robusto, que automatiza liquidaciones, auditoría y reglas de negocio directamente en el motor de base de datos.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Sonido Vivo atiende tanto a músicos aficionados como a profesionales en Viña del Mar. Hasta hoy, la tienda operaba de forma manual. Esto generaba dos problemas críticos: desorden en la emisión de boletas y el riesgo latente de vender instrumentos sin stock disponible en bodega. Frente a esto, diseñamos una base de datos en Oracle que no solo persiste la información, sino que utiliza PL/SQL para automatizar el cálculo de totales, descontar existencias y blindar el sistema ante operaciones no válidas.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relacional consta de 7 tablas normalizadas en tercera forma normal. CATEGORIA clasifica a PRODUCTO en una relación uno a muchos; CLIENTE realiza muchas VENTA; cada VENTA contiene varias líneas en DETALLE_VENTA, que a su vez referencia a PRODUCTO; y CLIENTE genera registros históricos en LIQUIDACION_CLIENTE. LOG_ERRORES queda aparte, registrando incidentes de todo el sistema sin depender directamente de esta cardinalidad.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que procesamos provienen del catálogo real y el flujo de ventas de la tienda: precios, unidades vendidas, stock en bodega y tipos de cliente. A partir de estos datos, el sistema genera información estratégica: consolida el historial de compras por cliente, aplica descuentos comerciales según volumen y tipo de fidelidad, y genera reportes de auditoría de incidentes.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optimizar el procesamiento en memoria implementamos dos tipos compuestos. Primero, un RECORD, que nos permite encapsular todos los campos de una liquidación en una sola variable lógica. Segundo, un VARRAY de tamaño fijo que almacena en la memoria del proceso (PGA) los porcentajes de descuento por tramo, evitando consultar tablas de parámetros en disco por cada fila y ganando velocidad en el procesamiento por lotes.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resolver la relación jerárquica entre un cliente y sus múltiples compras, utilizamos bucles anidados con cursores explícitos. El cursor padre selecciona a los clientes, y por cada uno de ellos abrimos un cursor secundario complejo parametrizado que recibe el ID del cliente y realiza un JOIN entre ventas, productos y categorías. Al estar parametrizado, el motor de Oracle aplica los índices correspondientes, garantizando que el bucle interno procese exactamente los registros correspondientes con el menor costo de cómputo posible.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control de excepciones es el escudo que garantiza la integridad de los datos. Manejamos dos tipos: las predefinidas por Oracle, como NO_DATA_FOUND, y las definidas por el usuario mediante RAISE, como e_stock_insuficiente, que impide materializar una venta si el stock en bodega no alcanza. Ante cualquier fallo ejecutamos un ROLLBACK y guardamos el error con su código y mensaje en la tabla LOG_ERRORES, asegurando trazabilidad total sin abortar el sistema.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cara a producción y a la integración con la web de Fullstack II, evaluamos la arquitectura en subprogramas. Diseñamos el paquete PKG_VENTAS_SONIDO_VIVO para encapsular la lógica del negocio: las funciones calcularán descuentos reutilizables en SQL, los procedimientos orquestarán las transacciones complejas, y los triggers automatizarán la rebaja de stock y las alertas de stock crítico. Para mitigar riesgos como tablas mutantes, los triggers se restringen a tareas atómicas de auditoría y stock, usando Compound Triggers cuando se requiere interactuar con la misma tabla.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la solución desarrollada en PL/SQL no solo resuelve la problemática operativa de Sonido Vivo en Viña del Mar eliminando los quiebres de stock ciego y ordenando las ventas, sino que sienta las bases técnicas para escalar hacia la plataforma web completa de Fullstack II. Muchas gracias, quedamos atentos a sus preguntas.
BANCO DE PREGUNTAS ANTICIPADAS (repaso rápido antes de la defensa):
1) ¿VARRAY vs Nested Table? Escala de descuento fija (3 tramos), orden conocido de antemano.
2) ¿Por qué parametrizar el cursor hijo en vez de un JOIN/GROUP BY masivo? Auditoría jerárquica por cliente; el optimizador filtra por índice en cada iteración.
3) ¿Se pierden datos si hay excepción? No: ROLLBACK de la transacción fallida + INSERT en LOG_ERRORES con SQLCODE/SQLERRM.
4) ¿Riesgo de triggers? ORA-04091 (tabla mutante); se mitiga con Compound Triggers o modificando una tabla externa.
5) ¿nombre_completo en LIQUIDACION_CLIENTE no viola 3FN? Es un Snapshot Histórico deliberado: una liquidación es un registro contable inmutable en el tiempo.
6) ¿Por qué SEQUENCE y no MAX(id)+1? MAX(id)+1 no es atómico en concurrencia (riesgo de colisión ORA-00001); SEQUENCE genera IDs atómicos en la SGA.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pic>
        <p:nvPicPr>
          <p:cNvPr id="2" name="Image 0" descr="/home/claude/ppt/icons/music_dark.png"/>
          <p:cNvPicPr>
            <a:picLocks noChangeAspect="1"/>
          </p:cNvPicPr>
          <p:nvPr/>
        </p:nvPicPr>
        <p:blipFill>
          <a:blip r:embed="rId3"/>
          <a:stretch>
            <a:fillRect/>
          </a:stretch>
        </p:blipFill>
        <p:spPr>
          <a:xfrm>
            <a:off x="5592928" y="1074420"/>
            <a:ext cx="1005840" cy="1005840"/>
          </a:xfrm>
          <a:prstGeom prst="rect">
            <a:avLst/>
          </a:prstGeom>
        </p:spPr>
      </p:pic>
      <p:sp>
        <p:nvSpPr>
          <p:cNvPr id="3" name="Text 0"/>
          <p:cNvSpPr/>
          <p:nvPr/>
        </p:nvSpPr>
        <p:spPr>
          <a:xfrm>
            <a:off x="914400" y="2827020"/>
            <a:ext cx="10362895" cy="1554480"/>
          </a:xfrm>
          <a:prstGeom prst="rect">
            <a:avLst/>
          </a:prstGeom>
          <a:noFill/>
          <a:ln/>
        </p:spPr>
        <p:txBody>
          <a:bodyPr wrap="square" rtlCol="0" anchor="t"/>
          <a:lstStyle/>
          <a:p>
            <a:pPr marL="0" indent="0" algn="ctr">
              <a:lnSpc>
                <a:spcPct val="110000"/>
              </a:lnSpc>
              <a:buNone/>
            </a:pPr>
            <a:r>
              <a:rPr lang="en-US" sz="3400" b="1" dirty="0">
                <a:solidFill>
                  <a:srgbClr val="FFFFFF"/>
                </a:solidFill>
                <a:latin typeface="Cambria" pitchFamily="34" charset="0"/>
                <a:ea typeface="Cambria" pitchFamily="34" charset="-122"/>
                <a:cs typeface="Cambria" pitchFamily="34" charset="-120"/>
              </a:rPr>
              <a:t>Optimización Transaccional y Procesamiento</a:t>
            </a:r>
            <a:endParaRPr lang="en-US" sz="3400" dirty="0"/>
          </a:p>
          <a:p>
            <a:pPr marL="0" indent="0" algn="ctr">
              <a:lnSpc>
                <a:spcPct val="110000"/>
              </a:lnSpc>
              <a:buNone/>
            </a:pPr>
            <a:r>
              <a:rPr lang="en-US" sz="3400" b="1" dirty="0">
                <a:solidFill>
                  <a:srgbClr val="FFFFFF"/>
                </a:solidFill>
                <a:latin typeface="Cambria" pitchFamily="34" charset="0"/>
                <a:ea typeface="Cambria" pitchFamily="34" charset="-122"/>
                <a:cs typeface="Cambria" pitchFamily="34" charset="-120"/>
              </a:rPr>
              <a:t>de Ventas en Oracle PL/SQL</a:t>
            </a:r>
            <a:endParaRPr lang="en-US" sz="3400" dirty="0"/>
          </a:p>
        </p:txBody>
      </p:sp>
      <p:sp>
        <p:nvSpPr>
          <p:cNvPr id="5" name="Text 2"/>
          <p:cNvSpPr/>
          <p:nvPr/>
        </p:nvSpPr>
        <p:spPr>
          <a:xfrm>
            <a:off x="914400" y="5623560"/>
            <a:ext cx="10362895" cy="822960"/>
          </a:xfrm>
          <a:prstGeom prst="rect">
            <a:avLst/>
          </a:prstGeom>
          <a:noFill/>
          <a:ln/>
        </p:spPr>
        <p:txBody>
          <a:bodyPr wrap="square" rtlCol="0" anchor="ctr"/>
          <a:lstStyle/>
          <a:p>
            <a:pPr marL="0" indent="0" algn="ctr">
              <a:lnSpc>
                <a:spcPct val="130000"/>
              </a:lnSpc>
              <a:buNone/>
            </a:pPr>
            <a:r>
              <a:rPr lang="en-US" sz="1300" b="1" dirty="0">
                <a:solidFill>
                  <a:srgbClr val="CADCFC"/>
                </a:solidFill>
                <a:latin typeface="Calibri" pitchFamily="34" charset="0"/>
                <a:ea typeface="Calibri" pitchFamily="34" charset="-122"/>
                <a:cs typeface="Calibri" pitchFamily="34" charset="-120"/>
              </a:rPr>
              <a:t>BDY1103 — Taller de Base de Datos</a:t>
            </a:r>
            <a:endParaRPr lang="en-US" sz="1300" dirty="0"/>
          </a:p>
          <a:p>
            <a:pPr marL="0" indent="0" algn="ctr">
              <a:lnSpc>
                <a:spcPct val="130000"/>
              </a:lnSpc>
              <a:buNone/>
            </a:pPr>
            <a:r>
              <a:rPr lang="en-US" sz="1300" dirty="0">
                <a:solidFill>
                  <a:srgbClr val="CADCFC"/>
                </a:solidFill>
                <a:latin typeface="Calibri" pitchFamily="34" charset="0"/>
                <a:ea typeface="Calibri" pitchFamily="34" charset="-122"/>
                <a:cs typeface="Calibri" pitchFamily="34" charset="-120"/>
              </a:rPr>
              <a:t>Integrantes: Dylan Sandoval, Victor Martinez, Danilo Sepúlveda</a:t>
            </a:r>
            <a:endParaRPr lang="en-US" sz="1300" dirty="0"/>
          </a:p>
          <a:p>
            <a:pPr marL="0" indent="0" algn="ctr">
              <a:lnSpc>
                <a:spcPct val="130000"/>
              </a:lnSpc>
              <a:buNone/>
            </a:pPr>
            <a:r>
              <a:rPr lang="en-US" sz="1300" dirty="0">
                <a:solidFill>
                  <a:srgbClr val="CADCFC"/>
                </a:solidFill>
                <a:latin typeface="Calibri" pitchFamily="34" charset="0"/>
                <a:ea typeface="Calibri" pitchFamily="34" charset="-122"/>
                <a:cs typeface="Calibri" pitchFamily="34" charset="-120"/>
              </a:rPr>
              <a:t>Docente: Josue Oteiza      ·      Septiembre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85800"/>
            <a:ext cx="11094415" cy="77724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Contexto de Negocio y Problemática</a:t>
            </a:r>
            <a:endParaRPr lang="en-US" sz="3000" dirty="0"/>
          </a:p>
        </p:txBody>
      </p:sp>
      <p:sp>
        <p:nvSpPr>
          <p:cNvPr id="4" name="Text 2"/>
          <p:cNvSpPr/>
          <p:nvPr/>
        </p:nvSpPr>
        <p:spPr>
          <a:xfrm>
            <a:off x="548640" y="1691640"/>
            <a:ext cx="548640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Sonido Vivo</a:t>
            </a:r>
            <a:endParaRPr lang="en-US" sz="1800" dirty="0"/>
          </a:p>
        </p:txBody>
      </p:sp>
      <p:sp>
        <p:nvSpPr>
          <p:cNvPr id="5" name="Text 3"/>
          <p:cNvSpPr/>
          <p:nvPr/>
        </p:nvSpPr>
        <p:spPr>
          <a:xfrm>
            <a:off x="548640" y="2103120"/>
            <a:ext cx="5486400" cy="1051560"/>
          </a:xfrm>
          <a:prstGeom prst="rect">
            <a:avLst/>
          </a:prstGeom>
          <a:noFill/>
          <a:ln/>
        </p:spPr>
        <p:txBody>
          <a:bodyPr wrap="square" rtlCol="0" anchor="t"/>
          <a:lstStyle/>
          <a:p>
            <a:pPr marL="0" indent="0">
              <a:lnSpc>
                <a:spcPct val="120000"/>
              </a:lnSpc>
              <a:buNone/>
            </a:pPr>
            <a:r>
              <a:rPr lang="en-US" sz="1400" dirty="0">
                <a:solidFill>
                  <a:srgbClr val="2A2A2E"/>
                </a:solidFill>
                <a:latin typeface="Calibri" pitchFamily="34" charset="0"/>
                <a:ea typeface="Calibri" pitchFamily="34" charset="-122"/>
                <a:cs typeface="Calibri" pitchFamily="34" charset="-120"/>
              </a:rPr>
              <a:t>Tienda especializada en instrumentos musicales (cuerdas, viento y percusión) y audio profesional, ubicada en Viña del Mar. Atiende tanto a músicos aficionados como profesionales.</a:t>
            </a:r>
            <a:endParaRPr lang="en-US" sz="1400" dirty="0"/>
          </a:p>
        </p:txBody>
      </p:sp>
      <p:sp>
        <p:nvSpPr>
          <p:cNvPr id="6" name="Shape 4"/>
          <p:cNvSpPr/>
          <p:nvPr/>
        </p:nvSpPr>
        <p:spPr>
          <a:xfrm>
            <a:off x="548640" y="3337560"/>
            <a:ext cx="5486400" cy="2331720"/>
          </a:xfrm>
          <a:prstGeom prst="roundRect">
            <a:avLst>
              <a:gd name="adj" fmla="val 4706"/>
            </a:avLst>
          </a:prstGeom>
          <a:solidFill>
            <a:srgbClr val="E8EDFB"/>
          </a:solidFill>
          <a:ln/>
          <a:effectLst>
            <a:outerShdw blurRad="76200" dist="25400" dir="5400000" algn="bl" rotWithShape="0">
              <a:srgbClr val="1E2761">
                <a:alpha val="12000"/>
              </a:srgbClr>
            </a:outerShdw>
          </a:effectLst>
        </p:spPr>
        <p:txBody>
          <a:bodyPr/>
          <a:lstStyle/>
          <a:p>
            <a:endParaRPr lang="es-CL"/>
          </a:p>
        </p:txBody>
      </p:sp>
      <p:sp>
        <p:nvSpPr>
          <p:cNvPr id="7" name="Text 5"/>
          <p:cNvSpPr/>
          <p:nvPr/>
        </p:nvSpPr>
        <p:spPr>
          <a:xfrm>
            <a:off x="822960" y="3520440"/>
            <a:ext cx="493776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Objetivo de la Solución</a:t>
            </a:r>
            <a:endParaRPr lang="en-US" sz="1400" dirty="0"/>
          </a:p>
        </p:txBody>
      </p:sp>
      <p:sp>
        <p:nvSpPr>
          <p:cNvPr id="8" name="Text 6"/>
          <p:cNvSpPr/>
          <p:nvPr/>
        </p:nvSpPr>
        <p:spPr>
          <a:xfrm>
            <a:off x="822960" y="3886200"/>
            <a:ext cx="4937760" cy="1600200"/>
          </a:xfrm>
          <a:prstGeom prst="rect">
            <a:avLst/>
          </a:prstGeom>
          <a:noFill/>
          <a:ln/>
        </p:spPr>
        <p:txBody>
          <a:bodyPr wrap="square" rtlCol="0" anchor="t"/>
          <a:lstStyle/>
          <a:p>
            <a:pPr marL="0" indent="0">
              <a:lnSpc>
                <a:spcPct val="125000"/>
              </a:lnSpc>
              <a:buNone/>
            </a:pPr>
            <a:r>
              <a:rPr lang="en-US" sz="1350" dirty="0">
                <a:solidFill>
                  <a:srgbClr val="2A2A2E"/>
                </a:solidFill>
                <a:latin typeface="Calibri" pitchFamily="34" charset="0"/>
                <a:ea typeface="Calibri" pitchFamily="34" charset="-122"/>
                <a:cs typeface="Calibri" pitchFamily="34" charset="-120"/>
              </a:rPr>
              <a:t>Centralizar la lógica de negocio en Oracle PL/SQL para asegurar consistencia ACID en cada venta y preparar la arquitectura para su futura integración con la plataforma web del proyecto Fullstack II.</a:t>
            </a:r>
            <a:endParaRPr lang="en-US" sz="1350" dirty="0"/>
          </a:p>
        </p:txBody>
      </p:sp>
      <p:pic>
        <p:nvPicPr>
          <p:cNvPr id="9" name="Image 0" descr="/home/claude/ppt/icons/warning_light.png"/>
          <p:cNvPicPr>
            <a:picLocks noChangeAspect="1"/>
          </p:cNvPicPr>
          <p:nvPr/>
        </p:nvPicPr>
        <p:blipFill>
          <a:blip r:embed="rId3"/>
          <a:stretch>
            <a:fillRect/>
          </a:stretch>
        </p:blipFill>
        <p:spPr>
          <a:xfrm>
            <a:off x="6400800" y="1691640"/>
            <a:ext cx="502920" cy="502920"/>
          </a:xfrm>
          <a:prstGeom prst="rect">
            <a:avLst/>
          </a:prstGeom>
        </p:spPr>
      </p:pic>
      <p:sp>
        <p:nvSpPr>
          <p:cNvPr id="10" name="Text 7"/>
          <p:cNvSpPr/>
          <p:nvPr/>
        </p:nvSpPr>
        <p:spPr>
          <a:xfrm>
            <a:off x="7086600" y="1664208"/>
            <a:ext cx="457200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Falta de trazabilidad</a:t>
            </a:r>
            <a:endParaRPr lang="en-US" sz="1450" dirty="0"/>
          </a:p>
        </p:txBody>
      </p:sp>
      <p:sp>
        <p:nvSpPr>
          <p:cNvPr id="11" name="Text 8"/>
          <p:cNvSpPr/>
          <p:nvPr/>
        </p:nvSpPr>
        <p:spPr>
          <a:xfrm>
            <a:off x="7086600" y="1984248"/>
            <a:ext cx="4572000" cy="731520"/>
          </a:xfrm>
          <a:prstGeom prst="rect">
            <a:avLst/>
          </a:prstGeom>
          <a:noFill/>
          <a:ln/>
        </p:spPr>
        <p:txBody>
          <a:bodyPr wrap="square" rtlCol="0" anchor="t"/>
          <a:lstStyle/>
          <a:p>
            <a:pPr marL="0" indent="0">
              <a:lnSpc>
                <a:spcPct val="115000"/>
              </a:lnSpc>
              <a:buNone/>
            </a:pPr>
            <a:r>
              <a:rPr lang="en-US" sz="1250" dirty="0">
                <a:solidFill>
                  <a:srgbClr val="5A5F73"/>
                </a:solidFill>
                <a:latin typeface="Calibri" pitchFamily="34" charset="0"/>
                <a:ea typeface="Calibri" pitchFamily="34" charset="-122"/>
                <a:cs typeface="Calibri" pitchFamily="34" charset="-120"/>
              </a:rPr>
              <a:t>Gestión manual de ventas y stock en cuadernos o planillas.</a:t>
            </a:r>
            <a:endParaRPr lang="en-US" sz="1250" dirty="0"/>
          </a:p>
        </p:txBody>
      </p:sp>
      <p:pic>
        <p:nvPicPr>
          <p:cNvPr id="12" name="Image 1" descr="/home/claude/ppt/icons/box_light.png"/>
          <p:cNvPicPr>
            <a:picLocks noChangeAspect="1"/>
          </p:cNvPicPr>
          <p:nvPr/>
        </p:nvPicPr>
        <p:blipFill>
          <a:blip r:embed="rId4"/>
          <a:stretch>
            <a:fillRect/>
          </a:stretch>
        </p:blipFill>
        <p:spPr>
          <a:xfrm>
            <a:off x="6400800" y="3108960"/>
            <a:ext cx="502920" cy="502920"/>
          </a:xfrm>
          <a:prstGeom prst="rect">
            <a:avLst/>
          </a:prstGeom>
        </p:spPr>
      </p:pic>
      <p:sp>
        <p:nvSpPr>
          <p:cNvPr id="13" name="Text 9"/>
          <p:cNvSpPr/>
          <p:nvPr/>
        </p:nvSpPr>
        <p:spPr>
          <a:xfrm>
            <a:off x="7086600" y="3081528"/>
            <a:ext cx="457200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Quiebres de stock ciego</a:t>
            </a:r>
            <a:endParaRPr lang="en-US" sz="1450" dirty="0"/>
          </a:p>
        </p:txBody>
      </p:sp>
      <p:sp>
        <p:nvSpPr>
          <p:cNvPr id="14" name="Text 10"/>
          <p:cNvSpPr/>
          <p:nvPr/>
        </p:nvSpPr>
        <p:spPr>
          <a:xfrm>
            <a:off x="7086600" y="3401568"/>
            <a:ext cx="4572000" cy="731520"/>
          </a:xfrm>
          <a:prstGeom prst="rect">
            <a:avLst/>
          </a:prstGeom>
          <a:noFill/>
          <a:ln/>
        </p:spPr>
        <p:txBody>
          <a:bodyPr wrap="square" rtlCol="0" anchor="t"/>
          <a:lstStyle/>
          <a:p>
            <a:pPr marL="0" indent="0">
              <a:lnSpc>
                <a:spcPct val="115000"/>
              </a:lnSpc>
              <a:buNone/>
            </a:pPr>
            <a:r>
              <a:rPr lang="en-US" sz="1250" dirty="0">
                <a:solidFill>
                  <a:srgbClr val="5A5F73"/>
                </a:solidFill>
                <a:latin typeface="Calibri" pitchFamily="34" charset="0"/>
                <a:ea typeface="Calibri" pitchFamily="34" charset="-122"/>
                <a:cs typeface="Calibri" pitchFamily="34" charset="-120"/>
              </a:rPr>
              <a:t>Riesgo real de vender productos sin existencia física en bodega.</a:t>
            </a:r>
            <a:endParaRPr lang="en-US" sz="1250" dirty="0"/>
          </a:p>
        </p:txBody>
      </p:sp>
      <p:pic>
        <p:nvPicPr>
          <p:cNvPr id="15" name="Image 2" descr="/home/claude/ppt/icons/chartline_light.png"/>
          <p:cNvPicPr>
            <a:picLocks noChangeAspect="1"/>
          </p:cNvPicPr>
          <p:nvPr/>
        </p:nvPicPr>
        <p:blipFill>
          <a:blip r:embed="rId5"/>
          <a:stretch>
            <a:fillRect/>
          </a:stretch>
        </p:blipFill>
        <p:spPr>
          <a:xfrm>
            <a:off x="6400800" y="4526280"/>
            <a:ext cx="502920" cy="502920"/>
          </a:xfrm>
          <a:prstGeom prst="rect">
            <a:avLst/>
          </a:prstGeom>
        </p:spPr>
      </p:pic>
      <p:sp>
        <p:nvSpPr>
          <p:cNvPr id="16" name="Text 11"/>
          <p:cNvSpPr/>
          <p:nvPr/>
        </p:nvSpPr>
        <p:spPr>
          <a:xfrm>
            <a:off x="7086600" y="4498848"/>
            <a:ext cx="457200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Descuentos estáticos</a:t>
            </a:r>
            <a:endParaRPr lang="en-US" sz="1450" dirty="0"/>
          </a:p>
        </p:txBody>
      </p:sp>
      <p:sp>
        <p:nvSpPr>
          <p:cNvPr id="17" name="Text 12"/>
          <p:cNvSpPr/>
          <p:nvPr/>
        </p:nvSpPr>
        <p:spPr>
          <a:xfrm>
            <a:off x="7086600" y="4818888"/>
            <a:ext cx="4572000" cy="731520"/>
          </a:xfrm>
          <a:prstGeom prst="rect">
            <a:avLst/>
          </a:prstGeom>
          <a:noFill/>
          <a:ln/>
        </p:spPr>
        <p:txBody>
          <a:bodyPr wrap="square" rtlCol="0" anchor="t"/>
          <a:lstStyle/>
          <a:p>
            <a:pPr marL="0" indent="0">
              <a:lnSpc>
                <a:spcPct val="115000"/>
              </a:lnSpc>
              <a:buNone/>
            </a:pPr>
            <a:r>
              <a:rPr lang="en-US" sz="1250" dirty="0">
                <a:solidFill>
                  <a:srgbClr val="5A5F73"/>
                </a:solidFill>
                <a:latin typeface="Calibri" pitchFamily="34" charset="0"/>
                <a:ea typeface="Calibri" pitchFamily="34" charset="-122"/>
                <a:cs typeface="Calibri" pitchFamily="34" charset="-120"/>
              </a:rPr>
              <a:t>Imposibilidad de aplicar bonificaciones dinámicas por volumen y fidelidad.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85800"/>
            <a:ext cx="11094415" cy="77724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Modelo Entidad-Relación</a:t>
            </a:r>
            <a:endParaRPr lang="en-US" sz="3000" dirty="0"/>
          </a:p>
        </p:txBody>
      </p:sp>
      <p:pic>
        <p:nvPicPr>
          <p:cNvPr id="4" name="Image 0" descr="/home/claude/ppt/er_diagram.png"/>
          <p:cNvPicPr>
            <a:picLocks noChangeAspect="1"/>
          </p:cNvPicPr>
          <p:nvPr/>
        </p:nvPicPr>
        <p:blipFill>
          <a:blip r:embed="rId3"/>
          <a:stretch>
            <a:fillRect/>
          </a:stretch>
        </p:blipFill>
        <p:spPr>
          <a:xfrm>
            <a:off x="350520" y="1324306"/>
            <a:ext cx="4869180" cy="4501438"/>
          </a:xfrm>
          <a:prstGeom prst="rect">
            <a:avLst/>
          </a:prstGeom>
        </p:spPr>
      </p:pic>
      <p:sp>
        <p:nvSpPr>
          <p:cNvPr id="6" name="Shape 3"/>
          <p:cNvSpPr/>
          <p:nvPr/>
        </p:nvSpPr>
        <p:spPr>
          <a:xfrm>
            <a:off x="5577840" y="1600200"/>
            <a:ext cx="6065215" cy="4617720"/>
          </a:xfrm>
          <a:prstGeom prst="roundRect">
            <a:avLst>
              <a:gd name="adj" fmla="val 2376"/>
            </a:avLst>
          </a:prstGeom>
          <a:solidFill>
            <a:srgbClr val="F2F5FC"/>
          </a:solidFill>
          <a:ln/>
          <a:effectLst>
            <a:outerShdw blurRad="76200" dist="25400" dir="5400000" algn="bl" rotWithShape="0">
              <a:srgbClr val="1E2761">
                <a:alpha val="12000"/>
              </a:srgbClr>
            </a:outerShdw>
          </a:effectLst>
        </p:spPr>
        <p:txBody>
          <a:bodyPr/>
          <a:lstStyle/>
          <a:p>
            <a:endParaRPr lang="es-CL"/>
          </a:p>
        </p:txBody>
      </p:sp>
      <p:sp>
        <p:nvSpPr>
          <p:cNvPr id="7" name="Text 4"/>
          <p:cNvSpPr/>
          <p:nvPr/>
        </p:nvSpPr>
        <p:spPr>
          <a:xfrm>
            <a:off x="5852160" y="1783080"/>
            <a:ext cx="5516575"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Cardinalidades</a:t>
            </a:r>
            <a:endParaRPr lang="en-US" sz="1600" dirty="0"/>
          </a:p>
        </p:txBody>
      </p:sp>
      <p:sp>
        <p:nvSpPr>
          <p:cNvPr id="8" name="Text 5"/>
          <p:cNvSpPr/>
          <p:nvPr/>
        </p:nvSpPr>
        <p:spPr>
          <a:xfrm>
            <a:off x="5852160" y="2286000"/>
            <a:ext cx="5516575"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CATEGORIA (1) — clasifica — (N) PRODUCTO</a:t>
            </a:r>
            <a:endParaRPr lang="en-US" sz="1250" dirty="0"/>
          </a:p>
        </p:txBody>
      </p:sp>
      <p:sp>
        <p:nvSpPr>
          <p:cNvPr id="9" name="Text 6"/>
          <p:cNvSpPr/>
          <p:nvPr/>
        </p:nvSpPr>
        <p:spPr>
          <a:xfrm>
            <a:off x="5852160" y="2578608"/>
            <a:ext cx="5516575" cy="347472"/>
          </a:xfrm>
          <a:prstGeom prst="rect">
            <a:avLst/>
          </a:prstGeom>
          <a:noFill/>
          <a:ln/>
        </p:spPr>
        <p:txBody>
          <a:bodyPr wrap="square" rtlCol="0" anchor="t"/>
          <a:lstStyle/>
          <a:p>
            <a:pPr marL="0" indent="0">
              <a:buNone/>
            </a:pPr>
            <a:r>
              <a:rPr lang="en-US" sz="1100" dirty="0">
                <a:solidFill>
                  <a:srgbClr val="5A5F73"/>
                </a:solidFill>
                <a:latin typeface="Calibri" pitchFamily="34" charset="0"/>
                <a:ea typeface="Calibri" pitchFamily="34" charset="-122"/>
                <a:cs typeface="Calibri" pitchFamily="34" charset="-120"/>
              </a:rPr>
              <a:t>Una categoría agrupa muchos productos.</a:t>
            </a:r>
            <a:endParaRPr lang="en-US" sz="1100" dirty="0"/>
          </a:p>
        </p:txBody>
      </p:sp>
      <p:sp>
        <p:nvSpPr>
          <p:cNvPr id="10" name="Text 7"/>
          <p:cNvSpPr/>
          <p:nvPr/>
        </p:nvSpPr>
        <p:spPr>
          <a:xfrm>
            <a:off x="5852160" y="3035808"/>
            <a:ext cx="5516575"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CLIENTE (1) — realiza — (N) VENTA</a:t>
            </a:r>
            <a:endParaRPr lang="en-US" sz="1250" dirty="0"/>
          </a:p>
        </p:txBody>
      </p:sp>
      <p:sp>
        <p:nvSpPr>
          <p:cNvPr id="11" name="Text 8"/>
          <p:cNvSpPr/>
          <p:nvPr/>
        </p:nvSpPr>
        <p:spPr>
          <a:xfrm>
            <a:off x="5852160" y="3328416"/>
            <a:ext cx="5516575" cy="347472"/>
          </a:xfrm>
          <a:prstGeom prst="rect">
            <a:avLst/>
          </a:prstGeom>
          <a:noFill/>
          <a:ln/>
        </p:spPr>
        <p:txBody>
          <a:bodyPr wrap="square" rtlCol="0" anchor="t"/>
          <a:lstStyle/>
          <a:p>
            <a:pPr marL="0" indent="0">
              <a:buNone/>
            </a:pPr>
            <a:r>
              <a:rPr lang="en-US" sz="1100" dirty="0">
                <a:solidFill>
                  <a:srgbClr val="5A5F73"/>
                </a:solidFill>
                <a:latin typeface="Calibri" pitchFamily="34" charset="0"/>
                <a:ea typeface="Calibri" pitchFamily="34" charset="-122"/>
                <a:cs typeface="Calibri" pitchFamily="34" charset="-120"/>
              </a:rPr>
              <a:t>Un cliente puede registrar muchas ventas.</a:t>
            </a:r>
            <a:endParaRPr lang="en-US" sz="1100" dirty="0"/>
          </a:p>
        </p:txBody>
      </p:sp>
      <p:sp>
        <p:nvSpPr>
          <p:cNvPr id="12" name="Text 9"/>
          <p:cNvSpPr/>
          <p:nvPr/>
        </p:nvSpPr>
        <p:spPr>
          <a:xfrm>
            <a:off x="5852160" y="3785616"/>
            <a:ext cx="5516575"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VENTA (1) — contiene — (N) DETALLE_VENTA</a:t>
            </a:r>
            <a:endParaRPr lang="en-US" sz="1250" dirty="0"/>
          </a:p>
        </p:txBody>
      </p:sp>
      <p:sp>
        <p:nvSpPr>
          <p:cNvPr id="13" name="Text 10"/>
          <p:cNvSpPr/>
          <p:nvPr/>
        </p:nvSpPr>
        <p:spPr>
          <a:xfrm>
            <a:off x="5852160" y="4078224"/>
            <a:ext cx="5516575" cy="347472"/>
          </a:xfrm>
          <a:prstGeom prst="rect">
            <a:avLst/>
          </a:prstGeom>
          <a:noFill/>
          <a:ln/>
        </p:spPr>
        <p:txBody>
          <a:bodyPr wrap="square" rtlCol="0" anchor="t"/>
          <a:lstStyle/>
          <a:p>
            <a:pPr marL="0" indent="0">
              <a:buNone/>
            </a:pPr>
            <a:r>
              <a:rPr lang="en-US" sz="1100" dirty="0">
                <a:solidFill>
                  <a:srgbClr val="5A5F73"/>
                </a:solidFill>
                <a:latin typeface="Calibri" pitchFamily="34" charset="0"/>
                <a:ea typeface="Calibri" pitchFamily="34" charset="-122"/>
                <a:cs typeface="Calibri" pitchFamily="34" charset="-120"/>
              </a:rPr>
              <a:t>Cada venta tiene una o más líneas de detalle.</a:t>
            </a:r>
            <a:endParaRPr lang="en-US" sz="1100" dirty="0"/>
          </a:p>
        </p:txBody>
      </p:sp>
      <p:sp>
        <p:nvSpPr>
          <p:cNvPr id="14" name="Text 11"/>
          <p:cNvSpPr/>
          <p:nvPr/>
        </p:nvSpPr>
        <p:spPr>
          <a:xfrm>
            <a:off x="5852160" y="4535424"/>
            <a:ext cx="5516575"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PRODUCTO (1) — aparece en — (N) DETALLE_VENTA</a:t>
            </a:r>
            <a:endParaRPr lang="en-US" sz="1250" dirty="0"/>
          </a:p>
        </p:txBody>
      </p:sp>
      <p:sp>
        <p:nvSpPr>
          <p:cNvPr id="15" name="Text 12"/>
          <p:cNvSpPr/>
          <p:nvPr/>
        </p:nvSpPr>
        <p:spPr>
          <a:xfrm>
            <a:off x="5852160" y="4828032"/>
            <a:ext cx="5516575" cy="347472"/>
          </a:xfrm>
          <a:prstGeom prst="rect">
            <a:avLst/>
          </a:prstGeom>
          <a:noFill/>
          <a:ln/>
        </p:spPr>
        <p:txBody>
          <a:bodyPr wrap="square" rtlCol="0" anchor="t"/>
          <a:lstStyle/>
          <a:p>
            <a:pPr marL="0" indent="0">
              <a:buNone/>
            </a:pPr>
            <a:r>
              <a:rPr lang="en-US" sz="1100" dirty="0">
                <a:solidFill>
                  <a:srgbClr val="5A5F73"/>
                </a:solidFill>
                <a:latin typeface="Calibri" pitchFamily="34" charset="0"/>
                <a:ea typeface="Calibri" pitchFamily="34" charset="-122"/>
                <a:cs typeface="Calibri" pitchFamily="34" charset="-120"/>
              </a:rPr>
              <a:t>Un producto puede figurar en muchas líneas de venta.</a:t>
            </a:r>
            <a:endParaRPr lang="en-US" sz="1100" dirty="0"/>
          </a:p>
        </p:txBody>
      </p:sp>
      <p:sp>
        <p:nvSpPr>
          <p:cNvPr id="16" name="Text 13"/>
          <p:cNvSpPr/>
          <p:nvPr/>
        </p:nvSpPr>
        <p:spPr>
          <a:xfrm>
            <a:off x="5852160" y="5285232"/>
            <a:ext cx="5516575"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CLIENTE (1) — genera — (N) LIQUIDACION_CLIENTE</a:t>
            </a:r>
            <a:endParaRPr lang="en-US" sz="1250" dirty="0"/>
          </a:p>
        </p:txBody>
      </p:sp>
      <p:sp>
        <p:nvSpPr>
          <p:cNvPr id="17" name="Text 14"/>
          <p:cNvSpPr/>
          <p:nvPr/>
        </p:nvSpPr>
        <p:spPr>
          <a:xfrm>
            <a:off x="5852160" y="5577840"/>
            <a:ext cx="5516575" cy="347472"/>
          </a:xfrm>
          <a:prstGeom prst="rect">
            <a:avLst/>
          </a:prstGeom>
          <a:noFill/>
          <a:ln/>
        </p:spPr>
        <p:txBody>
          <a:bodyPr wrap="square" rtlCol="0" anchor="t"/>
          <a:lstStyle/>
          <a:p>
            <a:pPr marL="0" indent="0">
              <a:buNone/>
            </a:pPr>
            <a:r>
              <a:rPr lang="en-US" sz="1100" dirty="0">
                <a:solidFill>
                  <a:srgbClr val="5A5F73"/>
                </a:solidFill>
                <a:latin typeface="Calibri" pitchFamily="34" charset="0"/>
                <a:ea typeface="Calibri" pitchFamily="34" charset="-122"/>
                <a:cs typeface="Calibri" pitchFamily="34" charset="-120"/>
              </a:rPr>
              <a:t>Un cliente puede acumular varias liquidaciones históricas.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85800"/>
            <a:ext cx="11094415" cy="777240"/>
          </a:xfrm>
          <a:prstGeom prst="rect">
            <a:avLst/>
          </a:prstGeom>
          <a:noFill/>
          <a:ln/>
        </p:spPr>
        <p:txBody>
          <a:bodyPr wrap="square" rtlCol="0" anchor="t"/>
          <a:lstStyle/>
          <a:p>
            <a:pPr marL="0" indent="0" algn="l">
              <a:buNone/>
            </a:pPr>
            <a:r>
              <a:rPr lang="en-US" sz="3000" b="1" dirty="0">
                <a:solidFill>
                  <a:srgbClr val="1E2761"/>
                </a:solidFill>
                <a:latin typeface="Cambria" pitchFamily="34" charset="0"/>
                <a:ea typeface="Cambria" pitchFamily="34" charset="-122"/>
                <a:cs typeface="Cambria" pitchFamily="34" charset="-120"/>
              </a:rPr>
              <a:t>Datos que Procesa el Sistema</a:t>
            </a:r>
            <a:endParaRPr lang="en-US" sz="3000" dirty="0"/>
          </a:p>
        </p:txBody>
      </p:sp>
      <p:sp>
        <p:nvSpPr>
          <p:cNvPr id="4" name="Shape 2"/>
          <p:cNvSpPr/>
          <p:nvPr/>
        </p:nvSpPr>
        <p:spPr>
          <a:xfrm>
            <a:off x="548640" y="1737360"/>
            <a:ext cx="5318608" cy="4297680"/>
          </a:xfrm>
          <a:prstGeom prst="roundRect">
            <a:avLst>
              <a:gd name="adj" fmla="val 2553"/>
            </a:avLst>
          </a:prstGeom>
          <a:solidFill>
            <a:srgbClr val="F2F5FC"/>
          </a:solidFill>
          <a:ln/>
          <a:effectLst>
            <a:outerShdw blurRad="76200" dist="25400" dir="5400000" algn="bl" rotWithShape="0">
              <a:srgbClr val="1E2761">
                <a:alpha val="12000"/>
              </a:srgbClr>
            </a:outerShdw>
          </a:effectLst>
        </p:spPr>
        <p:txBody>
          <a:bodyPr/>
          <a:lstStyle/>
          <a:p>
            <a:endParaRPr lang="es-CL"/>
          </a:p>
        </p:txBody>
      </p:sp>
      <p:pic>
        <p:nvPicPr>
          <p:cNvPr id="5" name="Image 0" descr="/home/claude/ppt/icons/database_light.png"/>
          <p:cNvPicPr>
            <a:picLocks noChangeAspect="1"/>
          </p:cNvPicPr>
          <p:nvPr/>
        </p:nvPicPr>
        <p:blipFill>
          <a:blip r:embed="rId3"/>
          <a:stretch>
            <a:fillRect/>
          </a:stretch>
        </p:blipFill>
        <p:spPr>
          <a:xfrm>
            <a:off x="868680" y="2057400"/>
            <a:ext cx="548640" cy="548640"/>
          </a:xfrm>
          <a:prstGeom prst="rect">
            <a:avLst/>
          </a:prstGeom>
        </p:spPr>
      </p:pic>
      <p:sp>
        <p:nvSpPr>
          <p:cNvPr id="6" name="Text 3"/>
          <p:cNvSpPr/>
          <p:nvPr/>
        </p:nvSpPr>
        <p:spPr>
          <a:xfrm>
            <a:off x="1554480" y="2103120"/>
            <a:ext cx="4129888" cy="45720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Datos de Entrada</a:t>
            </a:r>
            <a:endParaRPr lang="en-US" sz="1700" dirty="0"/>
          </a:p>
        </p:txBody>
      </p:sp>
      <p:sp>
        <p:nvSpPr>
          <p:cNvPr id="7" name="Text 4"/>
          <p:cNvSpPr/>
          <p:nvPr/>
        </p:nvSpPr>
        <p:spPr>
          <a:xfrm>
            <a:off x="868680" y="2788920"/>
            <a:ext cx="4678528" cy="3017520"/>
          </a:xfrm>
          <a:prstGeom prst="rect">
            <a:avLst/>
          </a:prstGeom>
          <a:noFill/>
          <a:ln/>
        </p:spPr>
        <p:txBody>
          <a:bodyPr wrap="square" rtlCol="0" anchor="t"/>
          <a:lstStyle/>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Catálogo de productos: código, marca, modelo, precio, stock actual y stock crítico.</a:t>
            </a:r>
            <a:endParaRPr lang="en-US" sz="1300" dirty="0"/>
          </a:p>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Clientes: RUT, comuna y categoría (ESTANDAR, FRECUENTE, PREMIUM).</a:t>
            </a:r>
            <a:endParaRPr lang="en-US" sz="1300" dirty="0"/>
          </a:p>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Transacciones: cabeceras de boleta y líneas de detalle con cantidades y precios unitarios.</a:t>
            </a:r>
            <a:endParaRPr lang="en-US" sz="1300" dirty="0"/>
          </a:p>
        </p:txBody>
      </p:sp>
      <p:sp>
        <p:nvSpPr>
          <p:cNvPr id="8" name="Shape 5"/>
          <p:cNvSpPr/>
          <p:nvPr/>
        </p:nvSpPr>
        <p:spPr>
          <a:xfrm>
            <a:off x="6324448" y="1737360"/>
            <a:ext cx="5318608" cy="4297680"/>
          </a:xfrm>
          <a:prstGeom prst="roundRect">
            <a:avLst>
              <a:gd name="adj" fmla="val 2553"/>
            </a:avLst>
          </a:prstGeom>
          <a:solidFill>
            <a:srgbClr val="E8EDFB"/>
          </a:solidFill>
          <a:ln/>
          <a:effectLst>
            <a:outerShdw blurRad="76200" dist="25400" dir="5400000" algn="bl" rotWithShape="0">
              <a:srgbClr val="1E2761">
                <a:alpha val="12000"/>
              </a:srgbClr>
            </a:outerShdw>
          </a:effectLst>
        </p:spPr>
        <p:txBody>
          <a:bodyPr/>
          <a:lstStyle/>
          <a:p>
            <a:endParaRPr lang="es-CL"/>
          </a:p>
        </p:txBody>
      </p:sp>
      <p:pic>
        <p:nvPicPr>
          <p:cNvPr id="9" name="Image 1" descr="/home/claude/ppt/icons/chartbar_light.png"/>
          <p:cNvPicPr>
            <a:picLocks noChangeAspect="1"/>
          </p:cNvPicPr>
          <p:nvPr/>
        </p:nvPicPr>
        <p:blipFill>
          <a:blip r:embed="rId4"/>
          <a:stretch>
            <a:fillRect/>
          </a:stretch>
        </p:blipFill>
        <p:spPr>
          <a:xfrm>
            <a:off x="6644488" y="2057400"/>
            <a:ext cx="548640" cy="548640"/>
          </a:xfrm>
          <a:prstGeom prst="rect">
            <a:avLst/>
          </a:prstGeom>
        </p:spPr>
      </p:pic>
      <p:sp>
        <p:nvSpPr>
          <p:cNvPr id="10" name="Text 6"/>
          <p:cNvSpPr/>
          <p:nvPr/>
        </p:nvSpPr>
        <p:spPr>
          <a:xfrm>
            <a:off x="7330288" y="2103120"/>
            <a:ext cx="4129888" cy="45720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Información Generada</a:t>
            </a:r>
            <a:endParaRPr lang="en-US" sz="1700" dirty="0"/>
          </a:p>
        </p:txBody>
      </p:sp>
      <p:sp>
        <p:nvSpPr>
          <p:cNvPr id="11" name="Text 7"/>
          <p:cNvSpPr/>
          <p:nvPr/>
        </p:nvSpPr>
        <p:spPr>
          <a:xfrm>
            <a:off x="6644488" y="2788920"/>
            <a:ext cx="4678528" cy="3017520"/>
          </a:xfrm>
          <a:prstGeom prst="rect">
            <a:avLst/>
          </a:prstGeom>
          <a:noFill/>
          <a:ln/>
        </p:spPr>
        <p:txBody>
          <a:bodyPr wrap="square" rtlCol="0" anchor="t"/>
          <a:lstStyle/>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Montos brutos acumulados por cliente y volumen transaccional.</a:t>
            </a:r>
            <a:endParaRPr lang="en-US" sz="1300" dirty="0"/>
          </a:p>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Tasas de descuento y bonificaciones escalonadas, calculadas en memoria.</a:t>
            </a:r>
            <a:endParaRPr lang="en-US" sz="1300" dirty="0"/>
          </a:p>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Liquidaciones comerciales netas consolidadas en LIQUIDACION_CLIENTE.</a:t>
            </a:r>
            <a:endParaRPr lang="en-US" sz="1300" dirty="0"/>
          </a:p>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Registro de incidentes operacionales en LOG_ERRORES.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85800"/>
            <a:ext cx="11094415" cy="777240"/>
          </a:xfrm>
          <a:prstGeom prst="rect">
            <a:avLst/>
          </a:prstGeom>
          <a:noFill/>
          <a:ln/>
        </p:spPr>
        <p:txBody>
          <a:bodyPr wrap="square" rtlCol="0" anchor="t"/>
          <a:lstStyle/>
          <a:p>
            <a:pPr marL="0" indent="0" algn="l">
              <a:buNone/>
            </a:pPr>
            <a:r>
              <a:rPr lang="en-US" sz="2700" b="1" dirty="0">
                <a:solidFill>
                  <a:srgbClr val="1E2761"/>
                </a:solidFill>
                <a:latin typeface="Cambria" pitchFamily="34" charset="0"/>
                <a:ea typeface="Cambria" pitchFamily="34" charset="-122"/>
                <a:cs typeface="Cambria" pitchFamily="34" charset="-120"/>
              </a:rPr>
              <a:t>Tipos de Datos Compuestos: RECORD y VARRAY</a:t>
            </a:r>
            <a:endParaRPr lang="en-US" sz="2700" dirty="0"/>
          </a:p>
        </p:txBody>
      </p:sp>
      <p:sp>
        <p:nvSpPr>
          <p:cNvPr id="4" name="Shape 2"/>
          <p:cNvSpPr/>
          <p:nvPr/>
        </p:nvSpPr>
        <p:spPr>
          <a:xfrm>
            <a:off x="548640" y="1691640"/>
            <a:ext cx="5318608" cy="2697480"/>
          </a:xfrm>
          <a:prstGeom prst="roundRect">
            <a:avLst>
              <a:gd name="adj" fmla="val 4068"/>
            </a:avLst>
          </a:prstGeom>
          <a:solidFill>
            <a:srgbClr val="F2F5FC"/>
          </a:solidFill>
          <a:ln/>
          <a:effectLst>
            <a:outerShdw blurRad="76200" dist="25400" dir="5400000" algn="bl" rotWithShape="0">
              <a:srgbClr val="1E2761">
                <a:alpha val="12000"/>
              </a:srgbClr>
            </a:outerShdw>
          </a:effectLst>
        </p:spPr>
        <p:txBody>
          <a:bodyPr/>
          <a:lstStyle/>
          <a:p>
            <a:endParaRPr lang="es-CL"/>
          </a:p>
        </p:txBody>
      </p:sp>
      <p:pic>
        <p:nvPicPr>
          <p:cNvPr id="5" name="Image 0" descr="/home/claude/ppt/icons/record_light.png"/>
          <p:cNvPicPr>
            <a:picLocks noChangeAspect="1"/>
          </p:cNvPicPr>
          <p:nvPr/>
        </p:nvPicPr>
        <p:blipFill>
          <a:blip r:embed="rId3"/>
          <a:stretch>
            <a:fillRect/>
          </a:stretch>
        </p:blipFill>
        <p:spPr>
          <a:xfrm>
            <a:off x="822960" y="1965960"/>
            <a:ext cx="502920" cy="502920"/>
          </a:xfrm>
          <a:prstGeom prst="rect">
            <a:avLst/>
          </a:prstGeom>
        </p:spPr>
      </p:pic>
      <p:sp>
        <p:nvSpPr>
          <p:cNvPr id="6" name="Text 3"/>
          <p:cNvSpPr/>
          <p:nvPr/>
        </p:nvSpPr>
        <p:spPr>
          <a:xfrm>
            <a:off x="1463040" y="2011680"/>
            <a:ext cx="4221328" cy="41148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RECORD  ·  t_rec_liquidacion</a:t>
            </a:r>
            <a:endParaRPr lang="en-US" sz="1500" dirty="0"/>
          </a:p>
        </p:txBody>
      </p:sp>
      <p:sp>
        <p:nvSpPr>
          <p:cNvPr id="7" name="Text 4"/>
          <p:cNvSpPr/>
          <p:nvPr/>
        </p:nvSpPr>
        <p:spPr>
          <a:xfrm>
            <a:off x="822960" y="2560320"/>
            <a:ext cx="4769968" cy="1645920"/>
          </a:xfrm>
          <a:prstGeom prst="rect">
            <a:avLst/>
          </a:prstGeom>
          <a:noFill/>
          <a:ln/>
        </p:spPr>
        <p:txBody>
          <a:bodyPr wrap="square" rtlCol="0" anchor="t"/>
          <a:lstStyle/>
          <a:p>
            <a:pPr marL="177800" indent="-177800" algn="l">
              <a:lnSpc>
                <a:spcPct val="108000"/>
              </a:lnSpc>
              <a:spcAft>
                <a:spcPts val="1000"/>
              </a:spcAft>
              <a:buSzPct val="100000"/>
              <a:buChar char="●"/>
            </a:pPr>
            <a:r>
              <a:rPr lang="en-US" sz="1250" dirty="0">
                <a:solidFill>
                  <a:srgbClr val="2A2A2E"/>
                </a:solidFill>
                <a:latin typeface="Calibri" pitchFamily="34" charset="0"/>
                <a:ea typeface="Calibri" pitchFamily="34" charset="-122"/>
                <a:cs typeface="Calibri" pitchFamily="34" charset="-120"/>
              </a:rPr>
              <a:t>¿Por qué? Unifica en una sola estructura lógica datos heterogéneos (montos, tasas, texto) de una liquidación.</a:t>
            </a:r>
            <a:endParaRPr lang="en-US" sz="1250" dirty="0"/>
          </a:p>
          <a:p>
            <a:pPr marL="177800" indent="-177800" algn="l">
              <a:lnSpc>
                <a:spcPct val="108000"/>
              </a:lnSpc>
              <a:spcAft>
                <a:spcPts val="1000"/>
              </a:spcAft>
              <a:buSzPct val="100000"/>
              <a:buChar char="●"/>
            </a:pPr>
            <a:r>
              <a:rPr lang="en-US" sz="1250" dirty="0">
                <a:solidFill>
                  <a:srgbClr val="2A2A2E"/>
                </a:solidFill>
                <a:latin typeface="Calibri" pitchFamily="34" charset="0"/>
                <a:ea typeface="Calibri" pitchFamily="34" charset="-122"/>
                <a:cs typeface="Calibri" pitchFamily="34" charset="-120"/>
              </a:rPr>
              <a:t>Beneficio: actúa como un DTO en memoria — evita declarar 8 variables escalares independientes.</a:t>
            </a:r>
            <a:endParaRPr lang="en-US" sz="1250" dirty="0"/>
          </a:p>
        </p:txBody>
      </p:sp>
      <p:sp>
        <p:nvSpPr>
          <p:cNvPr id="8" name="Shape 5"/>
          <p:cNvSpPr/>
          <p:nvPr/>
        </p:nvSpPr>
        <p:spPr>
          <a:xfrm>
            <a:off x="6324448" y="1691640"/>
            <a:ext cx="5318608" cy="2697480"/>
          </a:xfrm>
          <a:prstGeom prst="roundRect">
            <a:avLst>
              <a:gd name="adj" fmla="val 4068"/>
            </a:avLst>
          </a:prstGeom>
          <a:solidFill>
            <a:srgbClr val="E8EDFB"/>
          </a:solidFill>
          <a:ln/>
          <a:effectLst>
            <a:outerShdw blurRad="76200" dist="25400" dir="5400000" algn="bl" rotWithShape="0">
              <a:srgbClr val="1E2761">
                <a:alpha val="12000"/>
              </a:srgbClr>
            </a:outerShdw>
          </a:effectLst>
        </p:spPr>
        <p:txBody>
          <a:bodyPr/>
          <a:lstStyle/>
          <a:p>
            <a:endParaRPr lang="es-CL"/>
          </a:p>
        </p:txBody>
      </p:sp>
      <p:pic>
        <p:nvPicPr>
          <p:cNvPr id="9" name="Image 1" descr="/home/claude/ppt/icons/varray_light.png"/>
          <p:cNvPicPr>
            <a:picLocks noChangeAspect="1"/>
          </p:cNvPicPr>
          <p:nvPr/>
        </p:nvPicPr>
        <p:blipFill>
          <a:blip r:embed="rId4"/>
          <a:stretch>
            <a:fillRect/>
          </a:stretch>
        </p:blipFill>
        <p:spPr>
          <a:xfrm>
            <a:off x="6598768" y="1965960"/>
            <a:ext cx="502920" cy="502920"/>
          </a:xfrm>
          <a:prstGeom prst="rect">
            <a:avLst/>
          </a:prstGeom>
        </p:spPr>
      </p:pic>
      <p:sp>
        <p:nvSpPr>
          <p:cNvPr id="10" name="Text 6"/>
          <p:cNvSpPr/>
          <p:nvPr/>
        </p:nvSpPr>
        <p:spPr>
          <a:xfrm>
            <a:off x="7238848" y="2011680"/>
            <a:ext cx="4221328" cy="41148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VARRAY  ·  t_arr_tasas</a:t>
            </a:r>
            <a:endParaRPr lang="en-US" sz="1500" dirty="0"/>
          </a:p>
        </p:txBody>
      </p:sp>
      <p:sp>
        <p:nvSpPr>
          <p:cNvPr id="11" name="Text 7"/>
          <p:cNvSpPr/>
          <p:nvPr/>
        </p:nvSpPr>
        <p:spPr>
          <a:xfrm>
            <a:off x="6598768" y="2560320"/>
            <a:ext cx="4769968" cy="1645920"/>
          </a:xfrm>
          <a:prstGeom prst="rect">
            <a:avLst/>
          </a:prstGeom>
          <a:noFill/>
          <a:ln/>
        </p:spPr>
        <p:txBody>
          <a:bodyPr wrap="square" rtlCol="0" anchor="t"/>
          <a:lstStyle/>
          <a:p>
            <a:pPr marL="177800" indent="-177800" algn="l">
              <a:lnSpc>
                <a:spcPct val="108000"/>
              </a:lnSpc>
              <a:spcAft>
                <a:spcPts val="1000"/>
              </a:spcAft>
              <a:buSzPct val="100000"/>
              <a:buChar char="●"/>
            </a:pPr>
            <a:r>
              <a:rPr lang="en-US" sz="1250" dirty="0">
                <a:solidFill>
                  <a:srgbClr val="2A2A2E"/>
                </a:solidFill>
                <a:latin typeface="Calibri" pitchFamily="34" charset="0"/>
                <a:ea typeface="Calibri" pitchFamily="34" charset="-122"/>
                <a:cs typeface="Calibri" pitchFamily="34" charset="-120"/>
              </a:rPr>
              <a:t>¿Por qué? Colección de tamaño fijo en memoria (PGA) con las escalas de descuento: 0%, 5% y 10%.</a:t>
            </a:r>
            <a:endParaRPr lang="en-US" sz="1250" dirty="0"/>
          </a:p>
          <a:p>
            <a:pPr marL="177800" indent="-177800" algn="l">
              <a:lnSpc>
                <a:spcPct val="108000"/>
              </a:lnSpc>
              <a:spcAft>
                <a:spcPts val="1000"/>
              </a:spcAft>
              <a:buSzPct val="100000"/>
              <a:buChar char="●"/>
            </a:pPr>
            <a:r>
              <a:rPr lang="en-US" sz="1250" dirty="0">
                <a:solidFill>
                  <a:srgbClr val="2A2A2E"/>
                </a:solidFill>
                <a:latin typeface="Calibri" pitchFamily="34" charset="0"/>
                <a:ea typeface="Calibri" pitchFamily="34" charset="-122"/>
                <a:cs typeface="Calibri" pitchFamily="34" charset="-120"/>
              </a:rPr>
              <a:t>Eficiencia: evita SELECT repetidos a disco por cada fila procesada, reduciendo el costo de I/O en lotes.</a:t>
            </a:r>
            <a:endParaRPr lang="en-US" sz="1250" dirty="0"/>
          </a:p>
        </p:txBody>
      </p:sp>
      <p:sp>
        <p:nvSpPr>
          <p:cNvPr id="12" name="Shape 8"/>
          <p:cNvSpPr/>
          <p:nvPr/>
        </p:nvSpPr>
        <p:spPr>
          <a:xfrm>
            <a:off x="548640" y="4617720"/>
            <a:ext cx="11094415" cy="1417320"/>
          </a:xfrm>
          <a:prstGeom prst="roundRect">
            <a:avLst>
              <a:gd name="adj" fmla="val 6452"/>
            </a:avLst>
          </a:prstGeom>
          <a:solidFill>
            <a:srgbClr val="1E2761"/>
          </a:solidFill>
          <a:ln/>
        </p:spPr>
        <p:txBody>
          <a:bodyPr/>
          <a:lstStyle/>
          <a:p>
            <a:endParaRPr lang="es-CL"/>
          </a:p>
        </p:txBody>
      </p:sp>
      <p:sp>
        <p:nvSpPr>
          <p:cNvPr id="13" name="Text 9"/>
          <p:cNvSpPr/>
          <p:nvPr/>
        </p:nvSpPr>
        <p:spPr>
          <a:xfrm>
            <a:off x="822960" y="4818888"/>
            <a:ext cx="10545775" cy="1005840"/>
          </a:xfrm>
          <a:prstGeom prst="rect">
            <a:avLst/>
          </a:prstGeom>
          <a:noFill/>
          <a:ln/>
        </p:spPr>
        <p:txBody>
          <a:bodyPr wrap="square" rtlCol="0" anchor="t"/>
          <a:lstStyle/>
          <a:p>
            <a:pPr marL="0" indent="0">
              <a:lnSpc>
                <a:spcPct val="140000"/>
              </a:lnSpc>
              <a:buNone/>
            </a:pPr>
            <a:r>
              <a:rPr lang="en-US" sz="1250" dirty="0">
                <a:solidFill>
                  <a:srgbClr val="CADCFC"/>
                </a:solidFill>
                <a:latin typeface="Consolas" pitchFamily="34" charset="0"/>
                <a:ea typeface="Consolas" pitchFamily="34" charset="-122"/>
                <a:cs typeface="Consolas" pitchFamily="34" charset="-120"/>
              </a:rPr>
              <a:t>TYPE t_rec_liquidacion IS RECORD (id_cliente NUMBER, total_bruto NUMBER, tasa_descuento_pct NUMBER, ...);</a:t>
            </a:r>
            <a:endParaRPr lang="en-US" sz="1250" dirty="0"/>
          </a:p>
          <a:p>
            <a:pPr marL="0" indent="0">
              <a:lnSpc>
                <a:spcPct val="140000"/>
              </a:lnSpc>
              <a:buNone/>
            </a:pPr>
            <a:r>
              <a:rPr lang="en-US" sz="1250" dirty="0">
                <a:solidFill>
                  <a:srgbClr val="CADCFC"/>
                </a:solidFill>
                <a:latin typeface="Consolas" pitchFamily="34" charset="0"/>
                <a:ea typeface="Consolas" pitchFamily="34" charset="-122"/>
                <a:cs typeface="Consolas" pitchFamily="34" charset="-120"/>
              </a:rPr>
              <a:t>TYPE t_arr_tasas IS VARRAY(3) OF NUMBER(5,2);   v_escalas t_arr_tasas := t_arr_tasas(0.00, 5.00, 10.00);</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85800"/>
            <a:ext cx="11094415" cy="777240"/>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Cursores Explícitos Parametrizados y Bucles Anidados</a:t>
            </a:r>
            <a:endParaRPr lang="en-US" sz="2500" dirty="0"/>
          </a:p>
        </p:txBody>
      </p:sp>
      <p:sp>
        <p:nvSpPr>
          <p:cNvPr id="4" name="Shape 2"/>
          <p:cNvSpPr/>
          <p:nvPr/>
        </p:nvSpPr>
        <p:spPr>
          <a:xfrm>
            <a:off x="548640" y="1783080"/>
            <a:ext cx="5577840" cy="4206240"/>
          </a:xfrm>
          <a:prstGeom prst="roundRect">
            <a:avLst>
              <a:gd name="adj" fmla="val 2609"/>
            </a:avLst>
          </a:prstGeom>
          <a:solidFill>
            <a:srgbClr val="F2F5FC"/>
          </a:solidFill>
          <a:ln w="15875">
            <a:solidFill>
              <a:srgbClr val="1E2761"/>
            </a:solidFill>
            <a:prstDash val="solid"/>
          </a:ln>
        </p:spPr>
        <p:txBody>
          <a:bodyPr/>
          <a:lstStyle/>
          <a:p>
            <a:endParaRPr lang="es-CL"/>
          </a:p>
        </p:txBody>
      </p:sp>
      <p:pic>
        <p:nvPicPr>
          <p:cNvPr id="5" name="Image 0" descr="/home/claude/ppt/icons/users_light.png"/>
          <p:cNvPicPr>
            <a:picLocks noChangeAspect="1"/>
          </p:cNvPicPr>
          <p:nvPr/>
        </p:nvPicPr>
        <p:blipFill>
          <a:blip r:embed="rId3"/>
          <a:stretch>
            <a:fillRect/>
          </a:stretch>
        </p:blipFill>
        <p:spPr>
          <a:xfrm>
            <a:off x="822960" y="2057400"/>
            <a:ext cx="502920" cy="502920"/>
          </a:xfrm>
          <a:prstGeom prst="rect">
            <a:avLst/>
          </a:prstGeom>
        </p:spPr>
      </p:pic>
      <p:sp>
        <p:nvSpPr>
          <p:cNvPr id="6" name="Text 3"/>
          <p:cNvSpPr/>
          <p:nvPr/>
        </p:nvSpPr>
        <p:spPr>
          <a:xfrm>
            <a:off x="1463040" y="2130552"/>
            <a:ext cx="438912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CURSOR PADRE — c_clientes</a:t>
            </a:r>
            <a:endParaRPr lang="en-US" sz="1350" dirty="0"/>
          </a:p>
        </p:txBody>
      </p:sp>
      <p:sp>
        <p:nvSpPr>
          <p:cNvPr id="7" name="Text 4"/>
          <p:cNvSpPr/>
          <p:nvPr/>
        </p:nvSpPr>
        <p:spPr>
          <a:xfrm>
            <a:off x="868680" y="2651760"/>
            <a:ext cx="4937760" cy="594360"/>
          </a:xfrm>
          <a:prstGeom prst="rect">
            <a:avLst/>
          </a:prstGeom>
          <a:noFill/>
          <a:ln/>
        </p:spPr>
        <p:txBody>
          <a:bodyPr wrap="square" rtlCol="0" anchor="t"/>
          <a:lstStyle/>
          <a:p>
            <a:pPr marL="0" indent="0">
              <a:lnSpc>
                <a:spcPct val="115000"/>
              </a:lnSpc>
              <a:buNone/>
            </a:pPr>
            <a:r>
              <a:rPr lang="en-US" sz="1200" dirty="0">
                <a:solidFill>
                  <a:srgbClr val="5A5F73"/>
                </a:solidFill>
                <a:latin typeface="Calibri" pitchFamily="34" charset="0"/>
                <a:ea typeface="Calibri" pitchFamily="34" charset="-122"/>
                <a:cs typeface="Calibri" pitchFamily="34" charset="-120"/>
              </a:rPr>
              <a:t>Recorre de forma explícita y ordenada a los clientes con transacciones registradas.</a:t>
            </a:r>
            <a:endParaRPr lang="en-US" sz="1200" dirty="0"/>
          </a:p>
        </p:txBody>
      </p:sp>
      <p:sp>
        <p:nvSpPr>
          <p:cNvPr id="8" name="Shape 5"/>
          <p:cNvSpPr/>
          <p:nvPr/>
        </p:nvSpPr>
        <p:spPr>
          <a:xfrm>
            <a:off x="914400" y="3383280"/>
            <a:ext cx="4846320" cy="2240280"/>
          </a:xfrm>
          <a:prstGeom prst="roundRect">
            <a:avLst>
              <a:gd name="adj" fmla="val 4082"/>
            </a:avLst>
          </a:prstGeom>
          <a:solidFill>
            <a:srgbClr val="FFFFFF"/>
          </a:solidFill>
          <a:ln w="12700">
            <a:solidFill>
              <a:srgbClr val="1E2761"/>
            </a:solidFill>
            <a:prstDash val="dash"/>
          </a:ln>
        </p:spPr>
        <p:txBody>
          <a:bodyPr/>
          <a:lstStyle/>
          <a:p>
            <a:endParaRPr lang="es-CL"/>
          </a:p>
        </p:txBody>
      </p:sp>
      <p:pic>
        <p:nvPicPr>
          <p:cNvPr id="9" name="Image 1" descr="/home/claude/ppt/icons/cart_light.png"/>
          <p:cNvPicPr>
            <a:picLocks noChangeAspect="1"/>
          </p:cNvPicPr>
          <p:nvPr/>
        </p:nvPicPr>
        <p:blipFill>
          <a:blip r:embed="rId4"/>
          <a:stretch>
            <a:fillRect/>
          </a:stretch>
        </p:blipFill>
        <p:spPr>
          <a:xfrm>
            <a:off x="1170432" y="3639312"/>
            <a:ext cx="457200" cy="457200"/>
          </a:xfrm>
          <a:prstGeom prst="rect">
            <a:avLst/>
          </a:prstGeom>
        </p:spPr>
      </p:pic>
      <p:sp>
        <p:nvSpPr>
          <p:cNvPr id="10" name="Text 6"/>
          <p:cNvSpPr/>
          <p:nvPr/>
        </p:nvSpPr>
        <p:spPr>
          <a:xfrm>
            <a:off x="1737360" y="3657600"/>
            <a:ext cx="3840480" cy="32004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CURSOR HIJO PARAMETRIZADO</a:t>
            </a:r>
            <a:endParaRPr lang="en-US" sz="1250" dirty="0"/>
          </a:p>
        </p:txBody>
      </p:sp>
      <p:sp>
        <p:nvSpPr>
          <p:cNvPr id="11" name="Text 7"/>
          <p:cNvSpPr/>
          <p:nvPr/>
        </p:nvSpPr>
        <p:spPr>
          <a:xfrm>
            <a:off x="1737360" y="3931920"/>
            <a:ext cx="3840480" cy="274320"/>
          </a:xfrm>
          <a:prstGeom prst="rect">
            <a:avLst/>
          </a:prstGeom>
          <a:noFill/>
          <a:ln/>
        </p:spPr>
        <p:txBody>
          <a:bodyPr wrap="square" rtlCol="0" anchor="ctr"/>
          <a:lstStyle/>
          <a:p>
            <a:pPr marL="0" indent="0">
              <a:buNone/>
            </a:pPr>
            <a:r>
              <a:rPr lang="en-US" sz="1150" dirty="0">
                <a:solidFill>
                  <a:srgbClr val="5A5F73"/>
                </a:solidFill>
                <a:latin typeface="Consolas" pitchFamily="34" charset="0"/>
                <a:ea typeface="Consolas" pitchFamily="34" charset="-122"/>
                <a:cs typeface="Consolas" pitchFamily="34" charset="-120"/>
              </a:rPr>
              <a:t>c_ventas_cliente(p_id_cli)</a:t>
            </a:r>
            <a:endParaRPr lang="en-US" sz="1150" dirty="0"/>
          </a:p>
        </p:txBody>
      </p:sp>
      <p:sp>
        <p:nvSpPr>
          <p:cNvPr id="12" name="Text 8"/>
          <p:cNvSpPr/>
          <p:nvPr/>
        </p:nvSpPr>
        <p:spPr>
          <a:xfrm>
            <a:off x="1170432" y="4343400"/>
            <a:ext cx="4343400" cy="1143000"/>
          </a:xfrm>
          <a:prstGeom prst="rect">
            <a:avLst/>
          </a:prstGeom>
          <a:noFill/>
          <a:ln/>
        </p:spPr>
        <p:txBody>
          <a:bodyPr wrap="square" rtlCol="0" anchor="t"/>
          <a:lstStyle/>
          <a:p>
            <a:pPr marL="0" indent="0">
              <a:lnSpc>
                <a:spcPct val="115000"/>
              </a:lnSpc>
              <a:buNone/>
            </a:pPr>
            <a:r>
              <a:rPr lang="en-US" sz="1150" dirty="0">
                <a:solidFill>
                  <a:srgbClr val="5A5F73"/>
                </a:solidFill>
                <a:latin typeface="Calibri" pitchFamily="34" charset="0"/>
                <a:ea typeface="Calibri" pitchFamily="34" charset="-122"/>
                <a:cs typeface="Calibri" pitchFamily="34" charset="-120"/>
              </a:rPr>
              <a:t>Recibe el id_cliente del bucle externo y ejecuta un JOIN entre ventas, detalle, productos y categorías.</a:t>
            </a:r>
            <a:endParaRPr lang="en-US" sz="1150" dirty="0"/>
          </a:p>
        </p:txBody>
      </p:sp>
      <p:sp>
        <p:nvSpPr>
          <p:cNvPr id="13" name="Text 9"/>
          <p:cNvSpPr/>
          <p:nvPr/>
        </p:nvSpPr>
        <p:spPr>
          <a:xfrm>
            <a:off x="6492240" y="1783080"/>
            <a:ext cx="5150815"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Manejo de Bucles Anidados</a:t>
            </a:r>
            <a:endParaRPr lang="en-US" sz="1600" dirty="0"/>
          </a:p>
        </p:txBody>
      </p:sp>
      <p:sp>
        <p:nvSpPr>
          <p:cNvPr id="14" name="Text 10"/>
          <p:cNvSpPr/>
          <p:nvPr/>
        </p:nvSpPr>
        <p:spPr>
          <a:xfrm>
            <a:off x="6492240" y="2286000"/>
            <a:ext cx="5150815" cy="2468880"/>
          </a:xfrm>
          <a:prstGeom prst="rect">
            <a:avLst/>
          </a:prstGeom>
          <a:noFill/>
          <a:ln/>
        </p:spPr>
        <p:txBody>
          <a:bodyPr wrap="square" rtlCol="0" anchor="t"/>
          <a:lstStyle/>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Bucle externo: controla la agregación a nivel de cliente.</a:t>
            </a:r>
            <a:endParaRPr lang="en-US" sz="1300" dirty="0"/>
          </a:p>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Bucle interno: procesa línea por línea cada producto adquirido, acumulando unidades y subtotales.</a:t>
            </a:r>
            <a:endParaRPr lang="en-US" sz="1300" dirty="0"/>
          </a:p>
          <a:p>
            <a:pPr marL="177800" indent="-177800" algn="l">
              <a:lnSpc>
                <a:spcPct val="108000"/>
              </a:lnSpc>
              <a:spcAft>
                <a:spcPts val="1000"/>
              </a:spcAft>
              <a:buSzPct val="100000"/>
              <a:buChar char="●"/>
            </a:pPr>
            <a:r>
              <a:rPr lang="en-US" sz="1300" dirty="0">
                <a:solidFill>
                  <a:srgbClr val="2A2A2E"/>
                </a:solidFill>
                <a:latin typeface="Calibri" pitchFamily="34" charset="0"/>
                <a:ea typeface="Calibri" pitchFamily="34" charset="-122"/>
                <a:cs typeface="Calibri" pitchFamily="34" charset="-120"/>
              </a:rPr>
              <a:t>Ventaja: el paso de parámetros delega el filtrado al optimizador de Oracle (CBO), procesando solo las filas hijas pertinentes.</a:t>
            </a:r>
            <a:endParaRPr lang="en-US" sz="1300" dirty="0"/>
          </a:p>
        </p:txBody>
      </p:sp>
      <p:sp>
        <p:nvSpPr>
          <p:cNvPr id="15" name="Shape 11"/>
          <p:cNvSpPr/>
          <p:nvPr/>
        </p:nvSpPr>
        <p:spPr>
          <a:xfrm>
            <a:off x="6492240" y="4434840"/>
            <a:ext cx="5150815" cy="1554480"/>
          </a:xfrm>
          <a:prstGeom prst="roundRect">
            <a:avLst>
              <a:gd name="adj" fmla="val 5882"/>
            </a:avLst>
          </a:prstGeom>
          <a:solidFill>
            <a:srgbClr val="1E2761"/>
          </a:solidFill>
          <a:ln/>
        </p:spPr>
        <p:txBody>
          <a:bodyPr/>
          <a:lstStyle/>
          <a:p>
            <a:endParaRPr lang="es-CL"/>
          </a:p>
        </p:txBody>
      </p:sp>
      <p:sp>
        <p:nvSpPr>
          <p:cNvPr id="16" name="Text 12"/>
          <p:cNvSpPr/>
          <p:nvPr/>
        </p:nvSpPr>
        <p:spPr>
          <a:xfrm>
            <a:off x="6766560" y="4617720"/>
            <a:ext cx="4602175" cy="1188720"/>
          </a:xfrm>
          <a:prstGeom prst="rect">
            <a:avLst/>
          </a:prstGeom>
          <a:noFill/>
          <a:ln/>
        </p:spPr>
        <p:txBody>
          <a:bodyPr wrap="square" rtlCol="0" anchor="t"/>
          <a:lstStyle/>
          <a:p>
            <a:pPr marL="0" indent="0">
              <a:lnSpc>
                <a:spcPct val="135000"/>
              </a:lnSpc>
              <a:buNone/>
            </a:pPr>
            <a:r>
              <a:rPr lang="en-US" sz="1100" dirty="0">
                <a:solidFill>
                  <a:srgbClr val="CADCFC"/>
                </a:solidFill>
                <a:latin typeface="Consolas" pitchFamily="34" charset="0"/>
                <a:ea typeface="Consolas" pitchFamily="34" charset="-122"/>
                <a:cs typeface="Consolas" pitchFamily="34" charset="-120"/>
              </a:rPr>
              <a:t>CURSOR c_ventas_cliente(p_id_cli NUMBER) IS</a:t>
            </a:r>
            <a:endParaRPr lang="en-US" sz="1100" dirty="0"/>
          </a:p>
          <a:p>
            <a:pPr marL="0" indent="0">
              <a:lnSpc>
                <a:spcPct val="135000"/>
              </a:lnSpc>
              <a:buNone/>
            </a:pPr>
            <a:r>
              <a:rPr lang="en-US" sz="1100" dirty="0">
                <a:solidFill>
                  <a:srgbClr val="CADCFC"/>
                </a:solidFill>
                <a:latin typeface="Consolas" pitchFamily="34" charset="0"/>
                <a:ea typeface="Consolas" pitchFamily="34" charset="-122"/>
                <a:cs typeface="Consolas" pitchFamily="34" charset="-120"/>
              </a:rPr>
              <a:t>  SELECT v.nro_boleta, p.nombre, d.cantidad</a:t>
            </a:r>
            <a:endParaRPr lang="en-US" sz="1100" dirty="0"/>
          </a:p>
          <a:p>
            <a:pPr marL="0" indent="0">
              <a:lnSpc>
                <a:spcPct val="135000"/>
              </a:lnSpc>
              <a:buNone/>
            </a:pPr>
            <a:r>
              <a:rPr lang="en-US" sz="1100" dirty="0">
                <a:solidFill>
                  <a:srgbClr val="CADCFC"/>
                </a:solidFill>
                <a:latin typeface="Consolas" pitchFamily="34" charset="0"/>
                <a:ea typeface="Consolas" pitchFamily="34" charset="-122"/>
                <a:cs typeface="Consolas" pitchFamily="34" charset="-120"/>
              </a:rPr>
              <a:t>  FROM VENTA v JOIN DETALLE_VENTA d, PRODUCTO p</a:t>
            </a:r>
            <a:endParaRPr lang="en-US" sz="1100" dirty="0"/>
          </a:p>
          <a:p>
            <a:pPr marL="0" indent="0">
              <a:lnSpc>
                <a:spcPct val="135000"/>
              </a:lnSpc>
              <a:buNone/>
            </a:pPr>
            <a:r>
              <a:rPr lang="en-US" sz="1100" dirty="0">
                <a:solidFill>
                  <a:srgbClr val="CADCFC"/>
                </a:solidFill>
                <a:latin typeface="Consolas" pitchFamily="34" charset="0"/>
                <a:ea typeface="Consolas" pitchFamily="34" charset="-122"/>
                <a:cs typeface="Consolas" pitchFamily="34" charset="-120"/>
              </a:rPr>
              <a:t>  WHERE v.id_cliente = p_id_cli;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85800"/>
            <a:ext cx="11094415" cy="777240"/>
          </a:xfrm>
          <a:prstGeom prst="rect">
            <a:avLst/>
          </a:prstGeom>
          <a:noFill/>
          <a:ln/>
        </p:spPr>
        <p:txBody>
          <a:bodyPr wrap="square" rtlCol="0" anchor="t"/>
          <a:lstStyle/>
          <a:p>
            <a:pPr marL="0" indent="0" algn="l">
              <a:buNone/>
            </a:pPr>
            <a:r>
              <a:rPr lang="en-US" sz="2600" b="1" dirty="0">
                <a:solidFill>
                  <a:srgbClr val="1E2761"/>
                </a:solidFill>
                <a:latin typeface="Cambria" pitchFamily="34" charset="0"/>
                <a:ea typeface="Cambria" pitchFamily="34" charset="-122"/>
                <a:cs typeface="Cambria" pitchFamily="34" charset="-120"/>
              </a:rPr>
              <a:t>Control de Excepciones: Predefinidas y de Usuario</a:t>
            </a:r>
            <a:endParaRPr lang="en-US" sz="2600" dirty="0"/>
          </a:p>
        </p:txBody>
      </p:sp>
      <p:sp>
        <p:nvSpPr>
          <p:cNvPr id="4" name="Shape 2"/>
          <p:cNvSpPr/>
          <p:nvPr/>
        </p:nvSpPr>
        <p:spPr>
          <a:xfrm>
            <a:off x="548640" y="1691640"/>
            <a:ext cx="5318608" cy="2148840"/>
          </a:xfrm>
          <a:prstGeom prst="roundRect">
            <a:avLst>
              <a:gd name="adj" fmla="val 5106"/>
            </a:avLst>
          </a:prstGeom>
          <a:solidFill>
            <a:srgbClr val="F2F5FC"/>
          </a:solidFill>
          <a:ln/>
          <a:effectLst>
            <a:outerShdw blurRad="76200" dist="25400" dir="5400000" algn="bl" rotWithShape="0">
              <a:srgbClr val="1E2761">
                <a:alpha val="12000"/>
              </a:srgbClr>
            </a:outerShdw>
          </a:effectLst>
        </p:spPr>
        <p:txBody>
          <a:bodyPr/>
          <a:lstStyle/>
          <a:p>
            <a:endParaRPr lang="es-CL"/>
          </a:p>
        </p:txBody>
      </p:sp>
      <p:pic>
        <p:nvPicPr>
          <p:cNvPr id="5" name="Image 0" descr="/home/claude/ppt/icons/predef_light.png"/>
          <p:cNvPicPr>
            <a:picLocks noChangeAspect="1"/>
          </p:cNvPicPr>
          <p:nvPr/>
        </p:nvPicPr>
        <p:blipFill>
          <a:blip r:embed="rId3"/>
          <a:stretch>
            <a:fillRect/>
          </a:stretch>
        </p:blipFill>
        <p:spPr>
          <a:xfrm>
            <a:off x="822960" y="1965960"/>
            <a:ext cx="457200" cy="457200"/>
          </a:xfrm>
          <a:prstGeom prst="rect">
            <a:avLst/>
          </a:prstGeom>
        </p:spPr>
      </p:pic>
      <p:sp>
        <p:nvSpPr>
          <p:cNvPr id="6" name="Text 3"/>
          <p:cNvSpPr/>
          <p:nvPr/>
        </p:nvSpPr>
        <p:spPr>
          <a:xfrm>
            <a:off x="1417320" y="2011680"/>
            <a:ext cx="4221328"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Predefinidas por Oracle</a:t>
            </a:r>
            <a:endParaRPr lang="en-US" sz="1450" dirty="0"/>
          </a:p>
        </p:txBody>
      </p:sp>
      <p:sp>
        <p:nvSpPr>
          <p:cNvPr id="7" name="Text 4"/>
          <p:cNvSpPr/>
          <p:nvPr/>
        </p:nvSpPr>
        <p:spPr>
          <a:xfrm>
            <a:off x="822960" y="2514600"/>
            <a:ext cx="4769968" cy="1143000"/>
          </a:xfrm>
          <a:prstGeom prst="rect">
            <a:avLst/>
          </a:prstGeom>
          <a:noFill/>
          <a:ln/>
        </p:spPr>
        <p:txBody>
          <a:bodyPr wrap="square" rtlCol="0" anchor="t"/>
          <a:lstStyle/>
          <a:p>
            <a:pPr marL="177800" indent="-177800" algn="l">
              <a:lnSpc>
                <a:spcPct val="108000"/>
              </a:lnSpc>
              <a:spcAft>
                <a:spcPts val="1000"/>
              </a:spcAft>
              <a:buSzPct val="100000"/>
              <a:buChar char="●"/>
            </a:pPr>
            <a:r>
              <a:rPr lang="en-US" sz="1200" dirty="0">
                <a:solidFill>
                  <a:srgbClr val="2A2A2E"/>
                </a:solidFill>
                <a:latin typeface="Calibri" pitchFamily="34" charset="0"/>
                <a:ea typeface="Calibri" pitchFamily="34" charset="-122"/>
                <a:cs typeface="Calibri" pitchFamily="34" charset="-120"/>
              </a:rPr>
              <a:t>NO_DATA_FOUND (ORA-01403): cliente o código de producto inexistente en catálogo.</a:t>
            </a:r>
            <a:endParaRPr lang="en-US" sz="1200" dirty="0"/>
          </a:p>
          <a:p>
            <a:pPr marL="177800" indent="-177800" algn="l">
              <a:lnSpc>
                <a:spcPct val="108000"/>
              </a:lnSpc>
              <a:spcAft>
                <a:spcPts val="1000"/>
              </a:spcAft>
              <a:buSzPct val="100000"/>
              <a:buChar char="●"/>
            </a:pPr>
            <a:r>
              <a:rPr lang="en-US" sz="1200" dirty="0">
                <a:solidFill>
                  <a:srgbClr val="2A2A2E"/>
                </a:solidFill>
                <a:latin typeface="Calibri" pitchFamily="34" charset="0"/>
                <a:ea typeface="Calibri" pitchFamily="34" charset="-122"/>
                <a:cs typeface="Calibri" pitchFamily="34" charset="-120"/>
              </a:rPr>
              <a:t>TOO_MANY_ROWS (ORA-01422): previene inconsistencias de unicidad.</a:t>
            </a:r>
            <a:endParaRPr lang="en-US" sz="1200" dirty="0"/>
          </a:p>
        </p:txBody>
      </p:sp>
      <p:sp>
        <p:nvSpPr>
          <p:cNvPr id="8" name="Shape 5"/>
          <p:cNvSpPr/>
          <p:nvPr/>
        </p:nvSpPr>
        <p:spPr>
          <a:xfrm>
            <a:off x="6324448" y="1691640"/>
            <a:ext cx="5318608" cy="2148840"/>
          </a:xfrm>
          <a:prstGeom prst="roundRect">
            <a:avLst>
              <a:gd name="adj" fmla="val 5106"/>
            </a:avLst>
          </a:prstGeom>
          <a:solidFill>
            <a:srgbClr val="E8EDFB"/>
          </a:solidFill>
          <a:ln/>
          <a:effectLst>
            <a:outerShdw blurRad="76200" dist="25400" dir="5400000" algn="bl" rotWithShape="0">
              <a:srgbClr val="1E2761">
                <a:alpha val="12000"/>
              </a:srgbClr>
            </a:outerShdw>
          </a:effectLst>
        </p:spPr>
        <p:txBody>
          <a:bodyPr/>
          <a:lstStyle/>
          <a:p>
            <a:endParaRPr lang="es-CL"/>
          </a:p>
        </p:txBody>
      </p:sp>
      <p:pic>
        <p:nvPicPr>
          <p:cNvPr id="9" name="Image 1" descr="/home/claude/ppt/icons/userexc_light.png"/>
          <p:cNvPicPr>
            <a:picLocks noChangeAspect="1"/>
          </p:cNvPicPr>
          <p:nvPr/>
        </p:nvPicPr>
        <p:blipFill>
          <a:blip r:embed="rId4"/>
          <a:stretch>
            <a:fillRect/>
          </a:stretch>
        </p:blipFill>
        <p:spPr>
          <a:xfrm>
            <a:off x="6598768" y="1965960"/>
            <a:ext cx="457200" cy="457200"/>
          </a:xfrm>
          <a:prstGeom prst="rect">
            <a:avLst/>
          </a:prstGeom>
        </p:spPr>
      </p:pic>
      <p:sp>
        <p:nvSpPr>
          <p:cNvPr id="10" name="Text 6"/>
          <p:cNvSpPr/>
          <p:nvPr/>
        </p:nvSpPr>
        <p:spPr>
          <a:xfrm>
            <a:off x="7193128" y="2011680"/>
            <a:ext cx="4221328"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Definidas por el Usuario</a:t>
            </a:r>
            <a:endParaRPr lang="en-US" sz="1450" dirty="0"/>
          </a:p>
        </p:txBody>
      </p:sp>
      <p:sp>
        <p:nvSpPr>
          <p:cNvPr id="11" name="Text 7"/>
          <p:cNvSpPr/>
          <p:nvPr/>
        </p:nvSpPr>
        <p:spPr>
          <a:xfrm>
            <a:off x="6598768" y="2514600"/>
            <a:ext cx="4769968" cy="1143000"/>
          </a:xfrm>
          <a:prstGeom prst="rect">
            <a:avLst/>
          </a:prstGeom>
          <a:noFill/>
          <a:ln/>
        </p:spPr>
        <p:txBody>
          <a:bodyPr wrap="square" rtlCol="0" anchor="t"/>
          <a:lstStyle/>
          <a:p>
            <a:pPr marL="177800" indent="-177800" algn="l">
              <a:lnSpc>
                <a:spcPct val="108000"/>
              </a:lnSpc>
              <a:spcAft>
                <a:spcPts val="1000"/>
              </a:spcAft>
              <a:buSzPct val="100000"/>
              <a:buChar char="●"/>
            </a:pPr>
            <a:r>
              <a:rPr lang="en-US" sz="1200" dirty="0">
                <a:solidFill>
                  <a:srgbClr val="2A2A2E"/>
                </a:solidFill>
                <a:latin typeface="Calibri" pitchFamily="34" charset="0"/>
                <a:ea typeface="Calibri" pitchFamily="34" charset="-122"/>
                <a:cs typeface="Calibri" pitchFamily="34" charset="-120"/>
              </a:rPr>
              <a:t>e_stock_insuficiente: se dispara con RAISE si la cantidad solicitada supera el stock disponible.</a:t>
            </a:r>
            <a:endParaRPr lang="en-US" sz="1200" dirty="0"/>
          </a:p>
          <a:p>
            <a:pPr marL="177800" indent="-177800" algn="l">
              <a:lnSpc>
                <a:spcPct val="108000"/>
              </a:lnSpc>
              <a:spcAft>
                <a:spcPts val="1000"/>
              </a:spcAft>
              <a:buSzPct val="100000"/>
              <a:buChar char="●"/>
            </a:pPr>
            <a:r>
              <a:rPr lang="en-US" sz="1200" dirty="0">
                <a:solidFill>
                  <a:srgbClr val="2A2A2E"/>
                </a:solidFill>
                <a:latin typeface="Calibri" pitchFamily="34" charset="0"/>
                <a:ea typeface="Calibri" pitchFamily="34" charset="-122"/>
                <a:cs typeface="Calibri" pitchFamily="34" charset="-120"/>
              </a:rPr>
              <a:t>e_cantidad_invalida: valida que la cantidad sea un entero estrictamente positivo.</a:t>
            </a:r>
            <a:endParaRPr lang="en-US" sz="1200" dirty="0"/>
          </a:p>
        </p:txBody>
      </p:sp>
      <p:sp>
        <p:nvSpPr>
          <p:cNvPr id="12" name="Shape 8"/>
          <p:cNvSpPr/>
          <p:nvPr/>
        </p:nvSpPr>
        <p:spPr>
          <a:xfrm>
            <a:off x="548640" y="4069080"/>
            <a:ext cx="11094415" cy="1280160"/>
          </a:xfrm>
          <a:prstGeom prst="roundRect">
            <a:avLst>
              <a:gd name="adj" fmla="val 7143"/>
            </a:avLst>
          </a:prstGeom>
          <a:solidFill>
            <a:srgbClr val="1E2761"/>
          </a:solidFill>
          <a:ln/>
        </p:spPr>
        <p:txBody>
          <a:bodyPr/>
          <a:lstStyle/>
          <a:p>
            <a:endParaRPr lang="es-CL"/>
          </a:p>
        </p:txBody>
      </p:sp>
      <p:sp>
        <p:nvSpPr>
          <p:cNvPr id="13" name="Text 9"/>
          <p:cNvSpPr/>
          <p:nvPr/>
        </p:nvSpPr>
        <p:spPr>
          <a:xfrm>
            <a:off x="868680" y="4233672"/>
            <a:ext cx="3657600" cy="274320"/>
          </a:xfrm>
          <a:prstGeom prst="rect">
            <a:avLst/>
          </a:prstGeom>
          <a:noFill/>
          <a:ln/>
        </p:spPr>
        <p:txBody>
          <a:bodyPr wrap="square"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ESTRATEGIA DE AUDITORÍA</a:t>
            </a:r>
            <a:endParaRPr lang="en-US" sz="1100" dirty="0"/>
          </a:p>
        </p:txBody>
      </p:sp>
      <p:pic>
        <p:nvPicPr>
          <p:cNvPr id="14" name="Image 2" descr="/home/claude/ppt/icons/warning_dark.png"/>
          <p:cNvPicPr>
            <a:picLocks noChangeAspect="1"/>
          </p:cNvPicPr>
          <p:nvPr/>
        </p:nvPicPr>
        <p:blipFill>
          <a:blip r:embed="rId5"/>
          <a:stretch>
            <a:fillRect/>
          </a:stretch>
        </p:blipFill>
        <p:spPr>
          <a:xfrm>
            <a:off x="868680" y="4617720"/>
            <a:ext cx="411480" cy="411480"/>
          </a:xfrm>
          <a:prstGeom prst="rect">
            <a:avLst/>
          </a:prstGeom>
        </p:spPr>
      </p:pic>
      <p:sp>
        <p:nvSpPr>
          <p:cNvPr id="15" name="Text 10"/>
          <p:cNvSpPr/>
          <p:nvPr/>
        </p:nvSpPr>
        <p:spPr>
          <a:xfrm>
            <a:off x="1371600" y="4617720"/>
            <a:ext cx="2981858"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Excepción capturada</a:t>
            </a:r>
            <a:endParaRPr lang="en-US" sz="1200" dirty="0"/>
          </a:p>
        </p:txBody>
      </p:sp>
      <p:sp>
        <p:nvSpPr>
          <p:cNvPr id="16" name="Text 11"/>
          <p:cNvSpPr/>
          <p:nvPr/>
        </p:nvSpPr>
        <p:spPr>
          <a:xfrm>
            <a:off x="4371746" y="4636008"/>
            <a:ext cx="274320" cy="411480"/>
          </a:xfrm>
          <a:prstGeom prst="rect">
            <a:avLst/>
          </a:prstGeom>
          <a:noFill/>
          <a:ln/>
        </p:spPr>
        <p:txBody>
          <a:bodyPr wrap="square"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a:t>
            </a:r>
            <a:endParaRPr lang="en-US" sz="2000" dirty="0"/>
          </a:p>
        </p:txBody>
      </p:sp>
      <p:pic>
        <p:nvPicPr>
          <p:cNvPr id="17" name="Image 3" descr="/home/claude/ppt/icons/shield_dark.png"/>
          <p:cNvPicPr>
            <a:picLocks noChangeAspect="1"/>
          </p:cNvPicPr>
          <p:nvPr/>
        </p:nvPicPr>
        <p:blipFill>
          <a:blip r:embed="rId6"/>
          <a:stretch>
            <a:fillRect/>
          </a:stretch>
        </p:blipFill>
        <p:spPr>
          <a:xfrm>
            <a:off x="4490618" y="4617720"/>
            <a:ext cx="411480" cy="411480"/>
          </a:xfrm>
          <a:prstGeom prst="rect">
            <a:avLst/>
          </a:prstGeom>
        </p:spPr>
      </p:pic>
      <p:sp>
        <p:nvSpPr>
          <p:cNvPr id="18" name="Text 12"/>
          <p:cNvSpPr/>
          <p:nvPr/>
        </p:nvSpPr>
        <p:spPr>
          <a:xfrm>
            <a:off x="4993538" y="4617720"/>
            <a:ext cx="2981858"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ROLLBACK de la transacción</a:t>
            </a:r>
            <a:endParaRPr lang="en-US" sz="1200" dirty="0"/>
          </a:p>
        </p:txBody>
      </p:sp>
      <p:sp>
        <p:nvSpPr>
          <p:cNvPr id="19" name="Text 13"/>
          <p:cNvSpPr/>
          <p:nvPr/>
        </p:nvSpPr>
        <p:spPr>
          <a:xfrm>
            <a:off x="7993685" y="4636008"/>
            <a:ext cx="274320" cy="411480"/>
          </a:xfrm>
          <a:prstGeom prst="rect">
            <a:avLst/>
          </a:prstGeom>
          <a:noFill/>
          <a:ln/>
        </p:spPr>
        <p:txBody>
          <a:bodyPr wrap="square"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a:t>
            </a:r>
            <a:endParaRPr lang="en-US" sz="2000" dirty="0"/>
          </a:p>
        </p:txBody>
      </p:sp>
      <p:pic>
        <p:nvPicPr>
          <p:cNvPr id="20" name="Image 4" descr="/home/claude/ppt/icons/log_dark.png"/>
          <p:cNvPicPr>
            <a:picLocks noChangeAspect="1"/>
          </p:cNvPicPr>
          <p:nvPr/>
        </p:nvPicPr>
        <p:blipFill>
          <a:blip r:embed="rId7"/>
          <a:stretch>
            <a:fillRect/>
          </a:stretch>
        </p:blipFill>
        <p:spPr>
          <a:xfrm>
            <a:off x="8112557" y="4617720"/>
            <a:ext cx="411480" cy="411480"/>
          </a:xfrm>
          <a:prstGeom prst="rect">
            <a:avLst/>
          </a:prstGeom>
        </p:spPr>
      </p:pic>
      <p:sp>
        <p:nvSpPr>
          <p:cNvPr id="21" name="Text 14"/>
          <p:cNvSpPr/>
          <p:nvPr/>
        </p:nvSpPr>
        <p:spPr>
          <a:xfrm>
            <a:off x="8615477" y="4617720"/>
            <a:ext cx="2981858" cy="548640"/>
          </a:xfrm>
          <a:prstGeom prst="rect">
            <a:avLst/>
          </a:prstGeom>
          <a:noFill/>
          <a:ln/>
        </p:spPr>
        <p:txBody>
          <a:bodyPr wrap="square"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Auditoría en LOG_ERRORES</a:t>
            </a:r>
            <a:endParaRPr lang="en-US" sz="1200" dirty="0"/>
          </a:p>
        </p:txBody>
      </p:sp>
      <p:sp>
        <p:nvSpPr>
          <p:cNvPr id="22" name="Shape 15"/>
          <p:cNvSpPr/>
          <p:nvPr/>
        </p:nvSpPr>
        <p:spPr>
          <a:xfrm>
            <a:off x="548640" y="5532120"/>
            <a:ext cx="11094415" cy="685800"/>
          </a:xfrm>
          <a:prstGeom prst="roundRect">
            <a:avLst>
              <a:gd name="adj" fmla="val 10667"/>
            </a:avLst>
          </a:prstGeom>
          <a:solidFill>
            <a:srgbClr val="F2F5FC"/>
          </a:solidFill>
          <a:ln w="12700">
            <a:solidFill>
              <a:srgbClr val="1E2761"/>
            </a:solidFill>
            <a:prstDash val="solid"/>
          </a:ln>
        </p:spPr>
        <p:txBody>
          <a:bodyPr/>
          <a:lstStyle/>
          <a:p>
            <a:endParaRPr lang="es-CL"/>
          </a:p>
        </p:txBody>
      </p:sp>
      <p:sp>
        <p:nvSpPr>
          <p:cNvPr id="23" name="Text 16"/>
          <p:cNvSpPr/>
          <p:nvPr/>
        </p:nvSpPr>
        <p:spPr>
          <a:xfrm>
            <a:off x="822960" y="5532120"/>
            <a:ext cx="10545775" cy="685800"/>
          </a:xfrm>
          <a:prstGeom prst="rect">
            <a:avLst/>
          </a:prstGeom>
          <a:noFill/>
          <a:ln/>
        </p:spPr>
        <p:txBody>
          <a:bodyPr wrap="square" rtlCol="0" anchor="ctr"/>
          <a:lstStyle/>
          <a:p>
            <a:pPr marL="0" indent="0">
              <a:buNone/>
            </a:pPr>
            <a:r>
              <a:rPr lang="en-US" sz="1150" dirty="0">
                <a:solidFill>
                  <a:srgbClr val="1E2761"/>
                </a:solidFill>
                <a:latin typeface="Consolas" pitchFamily="34" charset="0"/>
                <a:ea typeface="Consolas" pitchFamily="34" charset="-122"/>
                <a:cs typeface="Consolas" pitchFamily="34" charset="-120"/>
              </a:rPr>
              <a:t>RAISE e_stock_insuficiente;   →   WHEN e_stock_insuficiente THEN ROLLBACK; INSERT INTO LOG_ERRORES(...); COMMIT;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40080"/>
            <a:ext cx="11094415" cy="1005840"/>
          </a:xfrm>
          <a:prstGeom prst="rect">
            <a:avLst/>
          </a:prstGeom>
          <a:noFill/>
          <a:ln/>
        </p:spPr>
        <p:txBody>
          <a:bodyPr wrap="square" rtlCol="0" anchor="t"/>
          <a:lstStyle/>
          <a:p>
            <a:pPr marL="0" indent="0" algn="l">
              <a:buNone/>
            </a:pPr>
            <a:r>
              <a:rPr lang="en-US" sz="2400" b="1" dirty="0">
                <a:solidFill>
                  <a:srgbClr val="1E2761"/>
                </a:solidFill>
                <a:latin typeface="Cambria" pitchFamily="34" charset="0"/>
                <a:ea typeface="Cambria" pitchFamily="34" charset="-122"/>
                <a:cs typeface="Cambria" pitchFamily="34" charset="-120"/>
              </a:rPr>
              <a:t>Arquitectura Futura: Procedimientos, Funciones,</a:t>
            </a:r>
            <a:endParaRPr lang="en-US" sz="2400" dirty="0"/>
          </a:p>
          <a:p>
            <a:pPr marL="0" indent="0" algn="l">
              <a:buNone/>
            </a:pPr>
            <a:r>
              <a:rPr lang="en-US" sz="2400" b="1" dirty="0">
                <a:solidFill>
                  <a:srgbClr val="1E2761"/>
                </a:solidFill>
                <a:latin typeface="Cambria" pitchFamily="34" charset="0"/>
                <a:ea typeface="Cambria" pitchFamily="34" charset="-122"/>
                <a:cs typeface="Cambria" pitchFamily="34" charset="-120"/>
              </a:rPr>
              <a:t>Paquetes y Triggers</a:t>
            </a:r>
            <a:endParaRPr lang="en-US" sz="2400" dirty="0"/>
          </a:p>
        </p:txBody>
      </p:sp>
      <p:sp>
        <p:nvSpPr>
          <p:cNvPr id="4" name="Shape 2"/>
          <p:cNvSpPr/>
          <p:nvPr/>
        </p:nvSpPr>
        <p:spPr>
          <a:xfrm>
            <a:off x="548640" y="1920240"/>
            <a:ext cx="6035040" cy="2926080"/>
          </a:xfrm>
          <a:prstGeom prst="roundRect">
            <a:avLst>
              <a:gd name="adj" fmla="val 3750"/>
            </a:avLst>
          </a:prstGeom>
          <a:solidFill>
            <a:srgbClr val="F2F5FC"/>
          </a:solidFill>
          <a:ln w="15875">
            <a:solidFill>
              <a:srgbClr val="1E2761"/>
            </a:solidFill>
            <a:prstDash val="solid"/>
          </a:ln>
        </p:spPr>
        <p:txBody>
          <a:bodyPr/>
          <a:lstStyle/>
          <a:p>
            <a:endParaRPr lang="es-CL"/>
          </a:p>
        </p:txBody>
      </p:sp>
      <p:pic>
        <p:nvPicPr>
          <p:cNvPr id="5" name="Image 0" descr="/home/claude/ppt/icons/package_light.png"/>
          <p:cNvPicPr>
            <a:picLocks noChangeAspect="1"/>
          </p:cNvPicPr>
          <p:nvPr/>
        </p:nvPicPr>
        <p:blipFill>
          <a:blip r:embed="rId3"/>
          <a:stretch>
            <a:fillRect/>
          </a:stretch>
        </p:blipFill>
        <p:spPr>
          <a:xfrm>
            <a:off x="822960" y="2194560"/>
            <a:ext cx="502920" cy="502920"/>
          </a:xfrm>
          <a:prstGeom prst="rect">
            <a:avLst/>
          </a:prstGeom>
        </p:spPr>
      </p:pic>
      <p:sp>
        <p:nvSpPr>
          <p:cNvPr id="6" name="Text 3"/>
          <p:cNvSpPr/>
          <p:nvPr/>
        </p:nvSpPr>
        <p:spPr>
          <a:xfrm>
            <a:off x="1463040" y="2267712"/>
            <a:ext cx="484632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PKG_VENTAS_SONIDO_VIVO</a:t>
            </a:r>
            <a:endParaRPr lang="en-US" sz="1500" dirty="0"/>
          </a:p>
        </p:txBody>
      </p:sp>
      <p:sp>
        <p:nvSpPr>
          <p:cNvPr id="7" name="Text 4"/>
          <p:cNvSpPr/>
          <p:nvPr/>
        </p:nvSpPr>
        <p:spPr>
          <a:xfrm>
            <a:off x="868680" y="2743200"/>
            <a:ext cx="5394960" cy="502920"/>
          </a:xfrm>
          <a:prstGeom prst="rect">
            <a:avLst/>
          </a:prstGeom>
          <a:noFill/>
          <a:ln/>
        </p:spPr>
        <p:txBody>
          <a:bodyPr wrap="square" rtlCol="0" anchor="ctr"/>
          <a:lstStyle/>
          <a:p>
            <a:pPr marL="0" indent="0">
              <a:buNone/>
            </a:pPr>
            <a:r>
              <a:rPr lang="en-US" sz="1150" dirty="0">
                <a:solidFill>
                  <a:srgbClr val="5A5F73"/>
                </a:solidFill>
                <a:latin typeface="Calibri" pitchFamily="34" charset="0"/>
                <a:ea typeface="Calibri" pitchFamily="34" charset="-122"/>
                <a:cs typeface="Calibri" pitchFamily="34" charset="-120"/>
              </a:rPr>
              <a:t>Agrupa y encapsula la lógica comercial; modulariza el código sin romper dependencias externas.</a:t>
            </a:r>
            <a:endParaRPr lang="en-US" sz="1150" dirty="0"/>
          </a:p>
        </p:txBody>
      </p:sp>
      <p:sp>
        <p:nvSpPr>
          <p:cNvPr id="8" name="Shape 5"/>
          <p:cNvSpPr/>
          <p:nvPr/>
        </p:nvSpPr>
        <p:spPr>
          <a:xfrm>
            <a:off x="868680" y="3337560"/>
            <a:ext cx="2606040" cy="1325880"/>
          </a:xfrm>
          <a:prstGeom prst="roundRect">
            <a:avLst>
              <a:gd name="adj" fmla="val 5517"/>
            </a:avLst>
          </a:prstGeom>
          <a:solidFill>
            <a:srgbClr val="FFFFFF"/>
          </a:solidFill>
          <a:ln w="12700">
            <a:solidFill>
              <a:srgbClr val="CADCFC"/>
            </a:solidFill>
            <a:prstDash val="solid"/>
          </a:ln>
        </p:spPr>
        <p:txBody>
          <a:bodyPr/>
          <a:lstStyle/>
          <a:p>
            <a:endParaRPr lang="es-CL"/>
          </a:p>
        </p:txBody>
      </p:sp>
      <p:pic>
        <p:nvPicPr>
          <p:cNvPr id="9" name="Image 1" descr="/home/claude/ppt/icons/function_light.png"/>
          <p:cNvPicPr>
            <a:picLocks noChangeAspect="1"/>
          </p:cNvPicPr>
          <p:nvPr/>
        </p:nvPicPr>
        <p:blipFill>
          <a:blip r:embed="rId4"/>
          <a:stretch>
            <a:fillRect/>
          </a:stretch>
        </p:blipFill>
        <p:spPr>
          <a:xfrm>
            <a:off x="1051560" y="3502152"/>
            <a:ext cx="384048" cy="384048"/>
          </a:xfrm>
          <a:prstGeom prst="rect">
            <a:avLst/>
          </a:prstGeom>
        </p:spPr>
      </p:pic>
      <p:sp>
        <p:nvSpPr>
          <p:cNvPr id="10" name="Text 6"/>
          <p:cNvSpPr/>
          <p:nvPr/>
        </p:nvSpPr>
        <p:spPr>
          <a:xfrm>
            <a:off x="1527048" y="3538728"/>
            <a:ext cx="1828800" cy="365760"/>
          </a:xfrm>
          <a:prstGeom prst="rect">
            <a:avLst/>
          </a:prstGeom>
          <a:noFill/>
          <a:ln/>
        </p:spPr>
        <p:txBody>
          <a:bodyPr wrap="square" rtlCol="0" anchor="t"/>
          <a:lstStyle/>
          <a:p>
            <a:pPr marL="0" indent="0">
              <a:buNone/>
            </a:pPr>
            <a:r>
              <a:rPr lang="en-US" sz="900" b="1" dirty="0">
                <a:solidFill>
                  <a:srgbClr val="1E2761"/>
                </a:solidFill>
                <a:latin typeface="Consolas" pitchFamily="34" charset="0"/>
                <a:ea typeface="Consolas" pitchFamily="34" charset="-122"/>
                <a:cs typeface="Consolas" pitchFamily="34" charset="-120"/>
              </a:rPr>
              <a:t>FN_CALCULAR_DESCUENTO</a:t>
            </a:r>
            <a:endParaRPr lang="en-US" sz="900" dirty="0"/>
          </a:p>
        </p:txBody>
      </p:sp>
      <p:sp>
        <p:nvSpPr>
          <p:cNvPr id="11" name="Text 7"/>
          <p:cNvSpPr/>
          <p:nvPr/>
        </p:nvSpPr>
        <p:spPr>
          <a:xfrm>
            <a:off x="1051560" y="4023360"/>
            <a:ext cx="2240280" cy="594360"/>
          </a:xfrm>
          <a:prstGeom prst="rect">
            <a:avLst/>
          </a:prstGeom>
          <a:noFill/>
          <a:ln/>
        </p:spPr>
        <p:txBody>
          <a:bodyPr wrap="square" rtlCol="0" anchor="t"/>
          <a:lstStyle/>
          <a:p>
            <a:pPr marL="0" indent="0">
              <a:lnSpc>
                <a:spcPct val="115000"/>
              </a:lnSpc>
              <a:buNone/>
            </a:pPr>
            <a:r>
              <a:rPr lang="en-US" sz="1050" dirty="0">
                <a:solidFill>
                  <a:srgbClr val="5A5F73"/>
                </a:solidFill>
                <a:latin typeface="Calibri" pitchFamily="34" charset="0"/>
                <a:ea typeface="Calibri" pitchFamily="34" charset="-122"/>
                <a:cs typeface="Calibri" pitchFamily="34" charset="-120"/>
              </a:rPr>
              <a:t>Función reutilizable en SQL y procedimientos.</a:t>
            </a:r>
            <a:endParaRPr lang="en-US" sz="1050" dirty="0"/>
          </a:p>
        </p:txBody>
      </p:sp>
      <p:sp>
        <p:nvSpPr>
          <p:cNvPr id="12" name="Shape 8"/>
          <p:cNvSpPr/>
          <p:nvPr/>
        </p:nvSpPr>
        <p:spPr>
          <a:xfrm>
            <a:off x="3657600" y="3337560"/>
            <a:ext cx="2606040" cy="1325880"/>
          </a:xfrm>
          <a:prstGeom prst="roundRect">
            <a:avLst>
              <a:gd name="adj" fmla="val 5517"/>
            </a:avLst>
          </a:prstGeom>
          <a:solidFill>
            <a:srgbClr val="FFFFFF"/>
          </a:solidFill>
          <a:ln w="12700">
            <a:solidFill>
              <a:srgbClr val="CADCFC"/>
            </a:solidFill>
            <a:prstDash val="solid"/>
          </a:ln>
        </p:spPr>
        <p:txBody>
          <a:bodyPr/>
          <a:lstStyle/>
          <a:p>
            <a:endParaRPr lang="es-CL"/>
          </a:p>
        </p:txBody>
      </p:sp>
      <p:pic>
        <p:nvPicPr>
          <p:cNvPr id="13" name="Image 2" descr="/home/claude/ppt/icons/procedure_light.png"/>
          <p:cNvPicPr>
            <a:picLocks noChangeAspect="1"/>
          </p:cNvPicPr>
          <p:nvPr/>
        </p:nvPicPr>
        <p:blipFill>
          <a:blip r:embed="rId5"/>
          <a:stretch>
            <a:fillRect/>
          </a:stretch>
        </p:blipFill>
        <p:spPr>
          <a:xfrm>
            <a:off x="3840480" y="3502152"/>
            <a:ext cx="384048" cy="384048"/>
          </a:xfrm>
          <a:prstGeom prst="rect">
            <a:avLst/>
          </a:prstGeom>
        </p:spPr>
      </p:pic>
      <p:sp>
        <p:nvSpPr>
          <p:cNvPr id="14" name="Text 9"/>
          <p:cNvSpPr/>
          <p:nvPr/>
        </p:nvSpPr>
        <p:spPr>
          <a:xfrm>
            <a:off x="4315968" y="3538728"/>
            <a:ext cx="1828800" cy="365760"/>
          </a:xfrm>
          <a:prstGeom prst="rect">
            <a:avLst/>
          </a:prstGeom>
          <a:noFill/>
          <a:ln/>
        </p:spPr>
        <p:txBody>
          <a:bodyPr wrap="square" rtlCol="0" anchor="t"/>
          <a:lstStyle/>
          <a:p>
            <a:pPr marL="0" indent="0">
              <a:buNone/>
            </a:pPr>
            <a:r>
              <a:rPr lang="en-US" sz="900" b="1" dirty="0">
                <a:solidFill>
                  <a:srgbClr val="1E2761"/>
                </a:solidFill>
                <a:latin typeface="Consolas" pitchFamily="34" charset="0"/>
                <a:ea typeface="Consolas" pitchFamily="34" charset="-122"/>
                <a:cs typeface="Consolas" pitchFamily="34" charset="-120"/>
              </a:rPr>
              <a:t>SP_REGISTRAR_VENTA</a:t>
            </a:r>
            <a:endParaRPr lang="en-US" sz="900" dirty="0"/>
          </a:p>
        </p:txBody>
      </p:sp>
      <p:sp>
        <p:nvSpPr>
          <p:cNvPr id="15" name="Text 10"/>
          <p:cNvSpPr/>
          <p:nvPr/>
        </p:nvSpPr>
        <p:spPr>
          <a:xfrm>
            <a:off x="3840480" y="4023360"/>
            <a:ext cx="2240280" cy="594360"/>
          </a:xfrm>
          <a:prstGeom prst="rect">
            <a:avLst/>
          </a:prstGeom>
          <a:noFill/>
          <a:ln/>
        </p:spPr>
        <p:txBody>
          <a:bodyPr wrap="square" rtlCol="0" anchor="t"/>
          <a:lstStyle/>
          <a:p>
            <a:pPr marL="0" indent="0">
              <a:lnSpc>
                <a:spcPct val="115000"/>
              </a:lnSpc>
              <a:buNone/>
            </a:pPr>
            <a:r>
              <a:rPr lang="en-US" sz="1050" dirty="0">
                <a:solidFill>
                  <a:srgbClr val="5A5F73"/>
                </a:solidFill>
                <a:latin typeface="Calibri" pitchFamily="34" charset="0"/>
                <a:ea typeface="Calibri" pitchFamily="34" charset="-122"/>
                <a:cs typeface="Calibri" pitchFamily="34" charset="-120"/>
              </a:rPr>
              <a:t>Automatiza transacciones de cabecera y detalle.</a:t>
            </a:r>
            <a:endParaRPr lang="en-US" sz="1050" dirty="0"/>
          </a:p>
        </p:txBody>
      </p:sp>
      <p:sp>
        <p:nvSpPr>
          <p:cNvPr id="16" name="Shape 11"/>
          <p:cNvSpPr/>
          <p:nvPr/>
        </p:nvSpPr>
        <p:spPr>
          <a:xfrm>
            <a:off x="6949440" y="1920240"/>
            <a:ext cx="4693615" cy="2926080"/>
          </a:xfrm>
          <a:prstGeom prst="roundRect">
            <a:avLst>
              <a:gd name="adj" fmla="val 3750"/>
            </a:avLst>
          </a:prstGeom>
          <a:solidFill>
            <a:srgbClr val="E8EDFB"/>
          </a:solidFill>
          <a:ln/>
        </p:spPr>
        <p:txBody>
          <a:bodyPr/>
          <a:lstStyle/>
          <a:p>
            <a:endParaRPr lang="es-CL"/>
          </a:p>
        </p:txBody>
      </p:sp>
      <p:pic>
        <p:nvPicPr>
          <p:cNvPr id="17" name="Image 3" descr="/home/claude/ppt/icons/trigger_light.png"/>
          <p:cNvPicPr>
            <a:picLocks noChangeAspect="1"/>
          </p:cNvPicPr>
          <p:nvPr/>
        </p:nvPicPr>
        <p:blipFill>
          <a:blip r:embed="rId6"/>
          <a:stretch>
            <a:fillRect/>
          </a:stretch>
        </p:blipFill>
        <p:spPr>
          <a:xfrm>
            <a:off x="7223760" y="2194560"/>
            <a:ext cx="502920" cy="502920"/>
          </a:xfrm>
          <a:prstGeom prst="rect">
            <a:avLst/>
          </a:prstGeom>
        </p:spPr>
      </p:pic>
      <p:sp>
        <p:nvSpPr>
          <p:cNvPr id="18" name="Text 12"/>
          <p:cNvSpPr/>
          <p:nvPr/>
        </p:nvSpPr>
        <p:spPr>
          <a:xfrm>
            <a:off x="7863840" y="2267712"/>
            <a:ext cx="3504895"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Triggers de Auditoría</a:t>
            </a:r>
            <a:endParaRPr lang="en-US" sz="1500" dirty="0"/>
          </a:p>
        </p:txBody>
      </p:sp>
      <p:sp>
        <p:nvSpPr>
          <p:cNvPr id="19" name="Text 13"/>
          <p:cNvSpPr/>
          <p:nvPr/>
        </p:nvSpPr>
        <p:spPr>
          <a:xfrm>
            <a:off x="7269480" y="2788920"/>
            <a:ext cx="4053535" cy="1874520"/>
          </a:xfrm>
          <a:prstGeom prst="rect">
            <a:avLst/>
          </a:prstGeom>
          <a:noFill/>
          <a:ln/>
        </p:spPr>
        <p:txBody>
          <a:bodyPr wrap="square" rtlCol="0" anchor="t"/>
          <a:lstStyle/>
          <a:p>
            <a:pPr marL="177800" indent="-177800" algn="l">
              <a:lnSpc>
                <a:spcPct val="108000"/>
              </a:lnSpc>
              <a:spcAft>
                <a:spcPts val="1000"/>
              </a:spcAft>
              <a:buSzPct val="100000"/>
              <a:buChar char="●"/>
            </a:pPr>
            <a:r>
              <a:rPr lang="en-US" sz="1200" dirty="0">
                <a:solidFill>
                  <a:srgbClr val="2A2A2E"/>
                </a:solidFill>
                <a:latin typeface="Calibri" pitchFamily="34" charset="0"/>
                <a:ea typeface="Calibri" pitchFamily="34" charset="-122"/>
                <a:cs typeface="Calibri" pitchFamily="34" charset="-120"/>
              </a:rPr>
              <a:t>TRG_DESCUENTA_STOCK: descuenta stock automáticamente tras cada venta (AFTER INSERT).</a:t>
            </a:r>
            <a:endParaRPr lang="en-US" sz="1200" dirty="0"/>
          </a:p>
          <a:p>
            <a:pPr marL="177800" indent="-177800" algn="l">
              <a:lnSpc>
                <a:spcPct val="108000"/>
              </a:lnSpc>
              <a:spcAft>
                <a:spcPts val="1000"/>
              </a:spcAft>
              <a:buSzPct val="100000"/>
              <a:buChar char="●"/>
            </a:pPr>
            <a:r>
              <a:rPr lang="en-US" sz="1200" dirty="0">
                <a:solidFill>
                  <a:srgbClr val="2A2A2E"/>
                </a:solidFill>
                <a:latin typeface="Calibri" pitchFamily="34" charset="0"/>
                <a:ea typeface="Calibri" pitchFamily="34" charset="-122"/>
                <a:cs typeface="Calibri" pitchFamily="34" charset="-120"/>
              </a:rPr>
              <a:t>TRG_AUDITA_STOCK_CRITICO: alerta preventiva si el inventario cae bajo el umbral crítico.</a:t>
            </a:r>
            <a:endParaRPr lang="en-US" sz="1200" dirty="0"/>
          </a:p>
        </p:txBody>
      </p:sp>
      <p:sp>
        <p:nvSpPr>
          <p:cNvPr id="20" name="Shape 14"/>
          <p:cNvSpPr/>
          <p:nvPr/>
        </p:nvSpPr>
        <p:spPr>
          <a:xfrm>
            <a:off x="548640" y="5074920"/>
            <a:ext cx="11094415" cy="868680"/>
          </a:xfrm>
          <a:prstGeom prst="roundRect">
            <a:avLst>
              <a:gd name="adj" fmla="val 10526"/>
            </a:avLst>
          </a:prstGeom>
          <a:solidFill>
            <a:srgbClr val="1E2761"/>
          </a:solidFill>
          <a:ln/>
        </p:spPr>
        <p:txBody>
          <a:bodyPr/>
          <a:lstStyle/>
          <a:p>
            <a:endParaRPr lang="es-CL"/>
          </a:p>
        </p:txBody>
      </p:sp>
      <p:pic>
        <p:nvPicPr>
          <p:cNvPr id="21" name="Image 4" descr="/home/claude/ppt/icons/warning_dark.png"/>
          <p:cNvPicPr>
            <a:picLocks noChangeAspect="1"/>
          </p:cNvPicPr>
          <p:nvPr/>
        </p:nvPicPr>
        <p:blipFill>
          <a:blip r:embed="rId7"/>
          <a:stretch>
            <a:fillRect/>
          </a:stretch>
        </p:blipFill>
        <p:spPr>
          <a:xfrm>
            <a:off x="822960" y="5276088"/>
            <a:ext cx="457200" cy="457200"/>
          </a:xfrm>
          <a:prstGeom prst="rect">
            <a:avLst/>
          </a:prstGeom>
        </p:spPr>
      </p:pic>
      <p:sp>
        <p:nvSpPr>
          <p:cNvPr id="22" name="Text 15"/>
          <p:cNvSpPr/>
          <p:nvPr/>
        </p:nvSpPr>
        <p:spPr>
          <a:xfrm>
            <a:off x="1463040" y="5239512"/>
            <a:ext cx="9905695" cy="548640"/>
          </a:xfrm>
          <a:prstGeom prst="rect">
            <a:avLst/>
          </a:prstGeom>
          <a:noFill/>
          <a:ln/>
        </p:spPr>
        <p:txBody>
          <a:bodyPr wrap="square" rtlCol="0" anchor="ctr"/>
          <a:lstStyle/>
          <a:p>
            <a:pPr marL="0" indent="0">
              <a:lnSpc>
                <a:spcPct val="115000"/>
              </a:lnSpc>
              <a:buNone/>
            </a:pPr>
            <a:r>
              <a:rPr lang="en-US" sz="1250" b="1" dirty="0">
                <a:solidFill>
                  <a:srgbClr val="CADCFC"/>
                </a:solidFill>
                <a:latin typeface="Calibri" pitchFamily="34" charset="0"/>
                <a:ea typeface="Calibri" pitchFamily="34" charset="-122"/>
                <a:cs typeface="Calibri" pitchFamily="34" charset="-120"/>
              </a:rPr>
              <a:t>Riesgo: </a:t>
            </a:r>
            <a:r>
              <a:rPr lang="en-US" sz="1250" dirty="0">
                <a:solidFill>
                  <a:srgbClr val="FFFFFF"/>
                </a:solidFill>
                <a:latin typeface="Calibri" pitchFamily="34" charset="0"/>
                <a:ea typeface="Calibri" pitchFamily="34" charset="-122"/>
                <a:cs typeface="Calibri" pitchFamily="34" charset="-120"/>
              </a:rPr>
              <a:t>error de tabla mutante (ORA-04091) en triggers de fila.   </a:t>
            </a:r>
            <a:r>
              <a:rPr lang="en-US" sz="1250" b="1" dirty="0">
                <a:solidFill>
                  <a:srgbClr val="CADCFC"/>
                </a:solidFill>
                <a:latin typeface="Calibri" pitchFamily="34" charset="0"/>
                <a:ea typeface="Calibri" pitchFamily="34" charset="-122"/>
                <a:cs typeface="Calibri" pitchFamily="34" charset="-120"/>
              </a:rPr>
              <a:t>Mitigación: </a:t>
            </a:r>
            <a:r>
              <a:rPr lang="en-US" sz="1250" dirty="0">
                <a:solidFill>
                  <a:srgbClr val="FFFFFF"/>
                </a:solidFill>
                <a:latin typeface="Calibri" pitchFamily="34" charset="0"/>
                <a:ea typeface="Calibri" pitchFamily="34" charset="-122"/>
                <a:cs typeface="Calibri" pitchFamily="34" charset="-120"/>
              </a:rPr>
              <a:t>uso de Compound Triggers y parámetros NOCOPY.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640080"/>
            <a:ext cx="11094415"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pic>
        <p:nvPicPr>
          <p:cNvPr id="3" name="Image 0" descr="/home/claude/ppt/icons/check_dark.png"/>
          <p:cNvPicPr>
            <a:picLocks noChangeAspect="1"/>
          </p:cNvPicPr>
          <p:nvPr/>
        </p:nvPicPr>
        <p:blipFill>
          <a:blip r:embed="rId3"/>
          <a:stretch>
            <a:fillRect/>
          </a:stretch>
        </p:blipFill>
        <p:spPr>
          <a:xfrm>
            <a:off x="548640" y="1691640"/>
            <a:ext cx="438912" cy="438912"/>
          </a:xfrm>
          <a:prstGeom prst="rect">
            <a:avLst/>
          </a:prstGeom>
        </p:spPr>
      </p:pic>
      <p:sp>
        <p:nvSpPr>
          <p:cNvPr id="4" name="Text 1"/>
          <p:cNvSpPr/>
          <p:nvPr/>
        </p:nvSpPr>
        <p:spPr>
          <a:xfrm>
            <a:off x="1188720" y="1673352"/>
            <a:ext cx="10454335" cy="502920"/>
          </a:xfrm>
          <a:prstGeom prst="rect">
            <a:avLst/>
          </a:prstGeom>
          <a:noFill/>
          <a:ln/>
        </p:spPr>
        <p:txBody>
          <a:bodyPr wrap="square" rtlCol="0" anchor="ctr"/>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Modelo relacional normalizado y operativo con datos reales de Sonido Vivo.</a:t>
            </a:r>
            <a:endParaRPr lang="en-US" sz="1500" dirty="0"/>
          </a:p>
        </p:txBody>
      </p:sp>
      <p:pic>
        <p:nvPicPr>
          <p:cNvPr id="5" name="Image 1" descr="/home/claude/ppt/icons/check_dark.png"/>
          <p:cNvPicPr>
            <a:picLocks noChangeAspect="1"/>
          </p:cNvPicPr>
          <p:nvPr/>
        </p:nvPicPr>
        <p:blipFill>
          <a:blip r:embed="rId3"/>
          <a:stretch>
            <a:fillRect/>
          </a:stretch>
        </p:blipFill>
        <p:spPr>
          <a:xfrm>
            <a:off x="548640" y="2468880"/>
            <a:ext cx="438912" cy="438912"/>
          </a:xfrm>
          <a:prstGeom prst="rect">
            <a:avLst/>
          </a:prstGeom>
        </p:spPr>
      </p:pic>
      <p:sp>
        <p:nvSpPr>
          <p:cNvPr id="6" name="Text 2"/>
          <p:cNvSpPr/>
          <p:nvPr/>
        </p:nvSpPr>
        <p:spPr>
          <a:xfrm>
            <a:off x="1188720" y="2450592"/>
            <a:ext cx="10454335" cy="502920"/>
          </a:xfrm>
          <a:prstGeom prst="rect">
            <a:avLst/>
          </a:prstGeom>
          <a:noFill/>
          <a:ln/>
        </p:spPr>
        <p:txBody>
          <a:bodyPr wrap="square" rtlCol="0" anchor="ctr"/>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Motor de cálculo de descuentos automatizado mediante RECORD y VARRAY.</a:t>
            </a:r>
            <a:endParaRPr lang="en-US" sz="1500" dirty="0"/>
          </a:p>
        </p:txBody>
      </p:sp>
      <p:pic>
        <p:nvPicPr>
          <p:cNvPr id="7" name="Image 2" descr="/home/claude/ppt/icons/check_dark.png"/>
          <p:cNvPicPr>
            <a:picLocks noChangeAspect="1"/>
          </p:cNvPicPr>
          <p:nvPr/>
        </p:nvPicPr>
        <p:blipFill>
          <a:blip r:embed="rId3"/>
          <a:stretch>
            <a:fillRect/>
          </a:stretch>
        </p:blipFill>
        <p:spPr>
          <a:xfrm>
            <a:off x="548640" y="3246120"/>
            <a:ext cx="438912" cy="438912"/>
          </a:xfrm>
          <a:prstGeom prst="rect">
            <a:avLst/>
          </a:prstGeom>
        </p:spPr>
      </p:pic>
      <p:sp>
        <p:nvSpPr>
          <p:cNvPr id="8" name="Text 3"/>
          <p:cNvSpPr/>
          <p:nvPr/>
        </p:nvSpPr>
        <p:spPr>
          <a:xfrm>
            <a:off x="1188720" y="3227832"/>
            <a:ext cx="10454335" cy="502920"/>
          </a:xfrm>
          <a:prstGeom prst="rect">
            <a:avLst/>
          </a:prstGeom>
          <a:noFill/>
          <a:ln/>
        </p:spPr>
        <p:txBody>
          <a:bodyPr wrap="square" rtlCol="0" anchor="ctr"/>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Trazabilidad y consistencia garantizadas por cursores anidados y control de excepciones.</a:t>
            </a:r>
            <a:endParaRPr lang="en-US" sz="1500" dirty="0"/>
          </a:p>
        </p:txBody>
      </p:sp>
      <p:pic>
        <p:nvPicPr>
          <p:cNvPr id="9" name="Image 3" descr="/home/claude/ppt/icons/check_dark.png"/>
          <p:cNvPicPr>
            <a:picLocks noChangeAspect="1"/>
          </p:cNvPicPr>
          <p:nvPr/>
        </p:nvPicPr>
        <p:blipFill>
          <a:blip r:embed="rId3"/>
          <a:stretch>
            <a:fillRect/>
          </a:stretch>
        </p:blipFill>
        <p:spPr>
          <a:xfrm>
            <a:off x="548640" y="4023360"/>
            <a:ext cx="438912" cy="438912"/>
          </a:xfrm>
          <a:prstGeom prst="rect">
            <a:avLst/>
          </a:prstGeom>
        </p:spPr>
      </p:pic>
      <p:sp>
        <p:nvSpPr>
          <p:cNvPr id="10" name="Text 4"/>
          <p:cNvSpPr/>
          <p:nvPr/>
        </p:nvSpPr>
        <p:spPr>
          <a:xfrm>
            <a:off x="1188720" y="4005072"/>
            <a:ext cx="10454335" cy="502920"/>
          </a:xfrm>
          <a:prstGeom prst="rect">
            <a:avLst/>
          </a:prstGeom>
          <a:noFill/>
          <a:ln/>
        </p:spPr>
        <p:txBody>
          <a:bodyPr wrap="square" rtlCol="0" anchor="ctr"/>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Plan de integración claro para conectar la base de datos con la plataforma web.</a:t>
            </a:r>
            <a:endParaRPr lang="en-US" sz="1500" dirty="0"/>
          </a:p>
        </p:txBody>
      </p:sp>
      <p:pic>
        <p:nvPicPr>
          <p:cNvPr id="11" name="Image 4" descr="/home/claude/ppt/icons/question_dark.png"/>
          <p:cNvPicPr>
            <a:picLocks noChangeAspect="1"/>
          </p:cNvPicPr>
          <p:nvPr/>
        </p:nvPicPr>
        <p:blipFill>
          <a:blip r:embed="rId4"/>
          <a:stretch>
            <a:fillRect/>
          </a:stretch>
        </p:blipFill>
        <p:spPr>
          <a:xfrm>
            <a:off x="5730088" y="5074920"/>
            <a:ext cx="731520" cy="731520"/>
          </a:xfrm>
          <a:prstGeom prst="rect">
            <a:avLst/>
          </a:prstGeom>
        </p:spPr>
      </p:pic>
      <p:sp>
        <p:nvSpPr>
          <p:cNvPr id="12" name="Text 5"/>
          <p:cNvSpPr/>
          <p:nvPr/>
        </p:nvSpPr>
        <p:spPr>
          <a:xfrm>
            <a:off x="0" y="5943600"/>
            <a:ext cx="12191695" cy="548640"/>
          </a:xfrm>
          <a:prstGeom prst="rect">
            <a:avLst/>
          </a:prstGeom>
          <a:noFill/>
          <a:ln/>
        </p:spPr>
        <p:txBody>
          <a:bodyPr wrap="square" rtlCol="0" anchor="ctr"/>
          <a:lstStyle/>
          <a:p>
            <a:pPr marL="0" indent="0" algn="ctr">
              <a:buNone/>
            </a:pPr>
            <a:r>
              <a:rPr lang="en-US" sz="2200" b="1" dirty="0">
                <a:solidFill>
                  <a:srgbClr val="CADCFC"/>
                </a:solidFill>
                <a:latin typeface="Cambria" pitchFamily="34" charset="0"/>
                <a:ea typeface="Cambria" pitchFamily="34" charset="-122"/>
                <a:cs typeface="Cambria" pitchFamily="34" charset="-120"/>
              </a:rPr>
              <a:t>¿Preguntas?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1901</Words>
  <Application>Microsoft Office PowerPoint</Application>
  <PresentationFormat>Panorámica</PresentationFormat>
  <Paragraphs>111</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Sonido Vivo</dc:creator>
  <cp:lastModifiedBy>Danilo Sepulveda</cp:lastModifiedBy>
  <cp:revision>2</cp:revision>
  <dcterms:created xsi:type="dcterms:W3CDTF">2026-09-22T18:58:44Z</dcterms:created>
  <dcterms:modified xsi:type="dcterms:W3CDTF">2026-09-22T19:07:32Z</dcterms:modified>
</cp:coreProperties>
</file>